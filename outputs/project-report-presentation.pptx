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2fe1410c734263" /><Relationship Type="http://schemas.openxmlformats.org/officeDocument/2006/relationships/extended-properties" Target="/docProps/app.xml" Id="R9f5a62c291c94607" /><Relationship Type="http://schemas.openxmlformats.org/officeDocument/2006/relationships/officeDocument" Target="/ppt/presentation.xml" Id="R1f8a77a898614f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20b808f49420f"/>
  </p:sldMasterIdLst>
  <p:notesMasterIdLst>
    <p:notesMasterId xmlns:r="http://schemas.openxmlformats.org/officeDocument/2006/relationships" r:id="R1802d690d8e94e24"/>
  </p:notesMasterIdLst>
  <p:sldIdLst>
    <p:sldId xmlns:r="http://schemas.openxmlformats.org/officeDocument/2006/relationships" id="256" r:id="R99210776f6ab4fd8"/>
    <p:sldId xmlns:r="http://schemas.openxmlformats.org/officeDocument/2006/relationships" id="257" r:id="R174e20d68faa4b39"/>
    <p:sldId xmlns:r="http://schemas.openxmlformats.org/officeDocument/2006/relationships" id="258" r:id="Rac03ace9234a4761"/>
    <p:sldId xmlns:r="http://schemas.openxmlformats.org/officeDocument/2006/relationships" id="259" r:id="R82f328b8e91544f0"/>
    <p:sldId xmlns:r="http://schemas.openxmlformats.org/officeDocument/2006/relationships" id="260" r:id="R4ff748ddbd824afb"/>
    <p:sldId xmlns:r="http://schemas.openxmlformats.org/officeDocument/2006/relationships" id="261" r:id="R53260ecc9555484c"/>
    <p:sldId xmlns:r="http://schemas.openxmlformats.org/officeDocument/2006/relationships" id="262" r:id="Rad35f66e3bb8462f"/>
    <p:sldId xmlns:r="http://schemas.openxmlformats.org/officeDocument/2006/relationships" id="263" r:id="R91b1b04c6a504808"/>
    <p:sldId xmlns:r="http://schemas.openxmlformats.org/officeDocument/2006/relationships" id="264" r:id="R11b50dfbff4b4ecb"/>
    <p:sldId xmlns:r="http://schemas.openxmlformats.org/officeDocument/2006/relationships" id="265" r:id="R8e8b3e246e7040eb"/>
    <p:sldId xmlns:r="http://schemas.openxmlformats.org/officeDocument/2006/relationships" id="266" r:id="R108c75e0e5bf48f9"/>
    <p:sldId xmlns:r="http://schemas.openxmlformats.org/officeDocument/2006/relationships" id="267" r:id="R1ab0cb6895fb4b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2981a998934a50" /><Relationship Type="http://schemas.openxmlformats.org/officeDocument/2006/relationships/slideMaster" Target="/ppt/slideMasters/slideMaster1.xml" Id="R7f220b808f49420f" /><Relationship Type="http://schemas.openxmlformats.org/officeDocument/2006/relationships/notesMaster" Target="/ppt/notesMasters/notesMaster1.xml" Id="R1802d690d8e94e24" /><Relationship Type="http://schemas.openxmlformats.org/officeDocument/2006/relationships/presProps" Target="/ppt/presProps.xml" Id="Rc5bcc52ee42e477b" /><Relationship Type="http://schemas.openxmlformats.org/officeDocument/2006/relationships/tableStyles" Target="/ppt/tableStyles.xml" Id="R2a92c52108064bfa" /><Relationship Type="http://schemas.openxmlformats.org/officeDocument/2006/relationships/slide" Target="/ppt/slides/slide1.xml" Id="R99210776f6ab4fd8" /><Relationship Type="http://schemas.openxmlformats.org/officeDocument/2006/relationships/slide" Target="/ppt/slides/slide2.xml" Id="R174e20d68faa4b39" /><Relationship Type="http://schemas.openxmlformats.org/officeDocument/2006/relationships/slide" Target="/ppt/slides/slide3.xml" Id="Rac03ace9234a4761" /><Relationship Type="http://schemas.openxmlformats.org/officeDocument/2006/relationships/slide" Target="/ppt/slides/slide4.xml" Id="R82f328b8e91544f0" /><Relationship Type="http://schemas.openxmlformats.org/officeDocument/2006/relationships/slide" Target="/ppt/slides/slide5.xml" Id="R4ff748ddbd824afb" /><Relationship Type="http://schemas.openxmlformats.org/officeDocument/2006/relationships/slide" Target="/ppt/slides/slide6.xml" Id="R53260ecc9555484c" /><Relationship Type="http://schemas.openxmlformats.org/officeDocument/2006/relationships/slide" Target="/ppt/slides/slide7.xml" Id="Rad35f66e3bb8462f" /><Relationship Type="http://schemas.openxmlformats.org/officeDocument/2006/relationships/slide" Target="/ppt/slides/slide8.xml" Id="R91b1b04c6a504808" /><Relationship Type="http://schemas.openxmlformats.org/officeDocument/2006/relationships/slide" Target="/ppt/slides/slide9.xml" Id="R11b50dfbff4b4ecb" /><Relationship Type="http://schemas.openxmlformats.org/officeDocument/2006/relationships/slide" Target="/ppt/slides/slide10.xml" Id="R8e8b3e246e7040eb" /><Relationship Type="http://schemas.openxmlformats.org/officeDocument/2006/relationships/slide" Target="/ppt/slides/slide11.xml" Id="R108c75e0e5bf48f9" /><Relationship Type="http://schemas.openxmlformats.org/officeDocument/2006/relationships/slide" Target="/ppt/slides/slide12.xml" Id="R1ab0cb6895fb4b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c40e039e4948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9ee6d8496244f7" /><Relationship Type="http://schemas.openxmlformats.org/officeDocument/2006/relationships/notesMaster" Target="/ppt/notesMasters/notesMaster1.xml" Id="R7f8c95f6442d45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f387abe5f04f66" /><Relationship Type="http://schemas.openxmlformats.org/officeDocument/2006/relationships/notesMaster" Target="/ppt/notesMasters/notesMaster1.xml" Id="R5eccb41cc4574c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6eba4f10d941ac" /><Relationship Type="http://schemas.openxmlformats.org/officeDocument/2006/relationships/notesMaster" Target="/ppt/notesMasters/notesMaster1.xml" Id="R981bb39bc79c4b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5807dd00d14645" /><Relationship Type="http://schemas.openxmlformats.org/officeDocument/2006/relationships/notesMaster" Target="/ppt/notesMasters/notesMaster1.xml" Id="Rec3b28de08a643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ed5f8d7315488a" /><Relationship Type="http://schemas.openxmlformats.org/officeDocument/2006/relationships/notesMaster" Target="/ppt/notesMasters/notesMaster1.xml" Id="Rced50fdc06bf4f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961a1900ef4e4d" /><Relationship Type="http://schemas.openxmlformats.org/officeDocument/2006/relationships/notesMaster" Target="/ppt/notesMasters/notesMaster1.xml" Id="R0f918a9719fc47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1ee85dafc348d9" /><Relationship Type="http://schemas.openxmlformats.org/officeDocument/2006/relationships/notesMaster" Target="/ppt/notesMasters/notesMaster1.xml" Id="R8b8e7298f3ee4e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56f38691334f3a" /><Relationship Type="http://schemas.openxmlformats.org/officeDocument/2006/relationships/notesMaster" Target="/ppt/notesMasters/notesMaster1.xml" Id="R97e8ff0c070a4a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853504875f456f" /><Relationship Type="http://schemas.openxmlformats.org/officeDocument/2006/relationships/notesMaster" Target="/ppt/notesMasters/notesMaster1.xml" Id="R387f83bbe4e545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01b3e0fe77430f" /><Relationship Type="http://schemas.openxmlformats.org/officeDocument/2006/relationships/notesMaster" Target="/ppt/notesMasters/notesMaster1.xml" Id="Rbc17d92d1cbe48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901e262d6144b0" /><Relationship Type="http://schemas.openxmlformats.org/officeDocument/2006/relationships/notesMaster" Target="/ppt/notesMasters/notesMaster1.xml" Id="R5f5c1995211842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032f9e056d4eb3" /><Relationship Type="http://schemas.openxmlformats.org/officeDocument/2006/relationships/notesMaster" Target="/ppt/notesMasters/notesMaster1.xml" Id="Rba65c63be18247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1df34f7844e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0c214ffeac4a18" /><Relationship Type="http://schemas.openxmlformats.org/officeDocument/2006/relationships/slideLayout" Target="/ppt/slideLayouts/slideLayout1.xml" Id="R09f5c7b113a946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f5c7b113a946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0b5105d904b58" /><Relationship Type="http://schemas.openxmlformats.org/officeDocument/2006/relationships/image" Target="/ppt/media/image.png" Id="R699938cbe8d54711" /><Relationship Type="http://schemas.openxmlformats.org/officeDocument/2006/relationships/notesSlide" Target="/ppt/notesSlides/notesSlide1.xml" Id="R566805a822994c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ec1ccebdc40ea" /><Relationship Type="http://schemas.openxmlformats.org/officeDocument/2006/relationships/notesSlide" Target="/ppt/notesSlides/notesSlide2.xml" Id="Rb8f01cc122b747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1f616b2574d1d" /><Relationship Type="http://schemas.openxmlformats.org/officeDocument/2006/relationships/notesSlide" Target="/ppt/notesSlides/notesSlide3.xml" Id="Re7b6957b45424b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2891cdfc84e32" /><Relationship Type="http://schemas.openxmlformats.org/officeDocument/2006/relationships/notesSlide" Target="/ppt/notesSlides/notesSlide4.xml" Id="Re36b262bc2e64b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a2a06a4a94723" /><Relationship Type="http://schemas.openxmlformats.org/officeDocument/2006/relationships/notesSlide" Target="/ppt/notesSlides/notesSlide5.xml" Id="R2e49cb7f032748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42cbbcbed4021" /><Relationship Type="http://schemas.openxmlformats.org/officeDocument/2006/relationships/image" Target="/ppt/media/image2.png" Id="R17004193d2eb46f4" /><Relationship Type="http://schemas.openxmlformats.org/officeDocument/2006/relationships/image" Target="/ppt/media/image3.png" Id="R4062c484f8024e07" /><Relationship Type="http://schemas.openxmlformats.org/officeDocument/2006/relationships/notesSlide" Target="/ppt/notesSlides/notesSlide6.xml" Id="R3478a401937f48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aa08618cf47dc" /><Relationship Type="http://schemas.openxmlformats.org/officeDocument/2006/relationships/image" Target="/ppt/media/image4.png" Id="R586be2deba014c43" /><Relationship Type="http://schemas.openxmlformats.org/officeDocument/2006/relationships/image" Target="/ppt/media/image5.png" Id="R5eb3e6fa1a64490a" /><Relationship Type="http://schemas.openxmlformats.org/officeDocument/2006/relationships/notesSlide" Target="/ppt/notesSlides/notesSlide7.xml" Id="Rc29e1107c8d543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81b077ad445e4" /><Relationship Type="http://schemas.openxmlformats.org/officeDocument/2006/relationships/notesSlide" Target="/ppt/notesSlides/notesSlide8.xml" Id="Rc8c8828ad0e14d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a6e1b3e2c45ce" /><Relationship Type="http://schemas.openxmlformats.org/officeDocument/2006/relationships/notesSlide" Target="/ppt/notesSlides/notesSlide9.xml" Id="R5d5ed685c7334b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b7489f9704487" /><Relationship Type="http://schemas.openxmlformats.org/officeDocument/2006/relationships/notesSlide" Target="/ppt/notesSlides/notesSlide10.xml" Id="R7a612b3aa7f841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7b3b67569415a" /><Relationship Type="http://schemas.openxmlformats.org/officeDocument/2006/relationships/notesSlide" Target="/ppt/notesSlides/notesSlide11.xml" Id="R4a9ea638625740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ef9a461ac437d" /><Relationship Type="http://schemas.openxmlformats.org/officeDocument/2006/relationships/notesSlide" Target="/ppt/notesSlides/notesSlide12.xml" Id="Re4dff02bb42d416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4000">
              <a:srgbClr val="EEF5FF"/>
            </a:gs>
            <a:gs pos="100000">
              <a:srgbClr val="E8FBF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6987F9C9-4A5C-4920-B6B0-732DF065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-mark">
            <a:extLst xmlns:a="http://schemas.openxmlformats.org/drawingml/2006/main">
              <a:ext uri="{FF2B5EF4-FFF2-40B4-BE49-F238E27FC236}">
                <a16:creationId xmlns:a16="http://schemas.microsoft.com/office/drawing/2014/main" id="{E1A90A48-BE35-4BFF-AF18-43386B9C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7429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ark-text">
            <a:extLst xmlns:a="http://schemas.openxmlformats.org/drawingml/2006/main">
              <a:ext uri="{FF2B5EF4-FFF2-40B4-BE49-F238E27FC236}">
                <a16:creationId xmlns:a16="http://schemas.microsoft.com/office/drawing/2014/main" id="{7777962A-1543-475A-A69F-2B63A365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PPT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987A2E-D811-468D-B3F4-B90C3A54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66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13F"/>
                </a:solidFill>
              </a:defRPr>
            </a:pPr>
            <a:r>
              <a:rPr sz="4350" b="1">
                <a:solidFill>
                  <a:srgbClr val="10213F"/>
                </a:solidFill>
              </a:rPr>
              <a:t>学院学生综合服务与党团管理平台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596BE98-CC2E-4070-93E3-676F7CAF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638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B82"/>
                </a:solidFill>
              </a:defRPr>
            </a:pPr>
            <a:r>
              <a:rPr sz="1725" b="0">
                <a:solidFill>
                  <a:srgbClr val="5C6B82"/>
                </a:solidFill>
              </a:rPr>
              <a:t>课程项目答辩 · 项目开发者汇报</a:t>
            </a:r>
          </a:p>
          <a:p xmlns:a="http://schemas.openxmlformats.org/drawingml/2006/main">
            <a:pPr algn="l">
              <a:defRPr sz="1725" b="0">
                <a:solidFill>
                  <a:srgbClr val="5C6B82"/>
                </a:solidFill>
              </a:defRPr>
            </a:pPr>
            <a:r>
              <a:rPr sz="1725" b="0">
                <a:solidFill>
                  <a:srgbClr val="5C6B82"/>
                </a:solidFill>
              </a:rPr>
              <a:t>为什么做 → 做了什么 → 怎么实现 → 如何验收 → 后续改进</a:t>
            </a:r>
          </a:p>
        </p:txBody>
      </p:sp>
      <p:sp>
        <p:nvSpPr>
          <p:cNvPr id="6" name="meta-1">
            <a:extLst xmlns:a="http://schemas.openxmlformats.org/drawingml/2006/main">
              <a:ext uri="{FF2B5EF4-FFF2-40B4-BE49-F238E27FC236}">
                <a16:creationId xmlns:a16="http://schemas.microsoft.com/office/drawing/2014/main" id="{9013F7DB-8F7B-4A58-A8E0-4CBC83A3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409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a-1-text">
            <a:extLst xmlns:a="http://schemas.openxmlformats.org/drawingml/2006/main">
              <a:ext uri="{FF2B5EF4-FFF2-40B4-BE49-F238E27FC236}">
                <a16:creationId xmlns:a16="http://schemas.microsoft.com/office/drawing/2014/main" id="{702FCA2B-AA2C-4C12-9F96-49F81331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分钟汇报</a:t>
            </a:r>
          </a:p>
        </p:txBody>
      </p:sp>
      <p:sp>
        <p:nvSpPr>
          <p:cNvPr id="8" name="meta-2">
            <a:extLst xmlns:a="http://schemas.openxmlformats.org/drawingml/2006/main">
              <a:ext uri="{FF2B5EF4-FFF2-40B4-BE49-F238E27FC236}">
                <a16:creationId xmlns:a16="http://schemas.microsoft.com/office/drawing/2014/main" id="{7496B87A-4162-4744-B44B-E2002F09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05400"/>
            <a:ext cx="32956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AA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a-2-text">
            <a:extLst xmlns:a="http://schemas.openxmlformats.org/drawingml/2006/main">
              <a:ext uri="{FF2B5EF4-FFF2-40B4-BE49-F238E27FC236}">
                <a16:creationId xmlns:a16="http://schemas.microsoft.com/office/drawing/2014/main" id="{FBD185B9-B8C6-4B4F-82E2-0D7E9AF4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10175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学生端 + 管理端 + REST API + Kingbase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938cbe8d54711"/>
          <a:srcRect xmlns:a="http://schemas.openxmlformats.org/drawingml/2006/main" l="7591" t="0" r="75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1123950"/>
            <a:ext cx="3429000" cy="41719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3648341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9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725D781A-C318-4EAC-A62D-3E967815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78E964B-170F-4141-9698-94B849F7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4D1"/>
                </a:solidFill>
              </a:defRPr>
            </a:pPr>
            <a:r>
              <a:rPr sz="1350" b="1">
                <a:solidFill>
                  <a:srgbClr val="2264D1"/>
                </a:solidFill>
              </a:rPr>
              <a:t>为什么做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3AE0C8-FCE0-4AB0-ACA3-B8E8844F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F"/>
                </a:solidFill>
              </a:defRPr>
            </a:pPr>
            <a:r>
              <a:rPr sz="3000" b="1">
                <a:solidFill>
                  <a:srgbClr val="10213F"/>
                </a:solidFill>
              </a:rPr>
              <a:t>项目背景与需求痛点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9E5909B-BC1C-425E-83B3-00BCE042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B99AB"/>
                </a:solidFill>
              </a:defRPr>
            </a:pPr>
            <a:r>
              <a:rPr sz="1350" b="1">
                <a:solidFill>
                  <a:srgbClr val="8B99AB"/>
                </a:solidFill>
              </a:rPr>
              <a:t>02</a:t>
            </a:r>
          </a:p>
        </p:txBody>
      </p:sp>
      <p:sp>
        <p:nvSpPr>
          <p:cNvPr id="5" name="panel-传统学生事务的痛点">
            <a:extLst xmlns:a="http://schemas.openxmlformats.org/drawingml/2006/main">
              <a:ext uri="{FF2B5EF4-FFF2-40B4-BE49-F238E27FC236}">
                <a16:creationId xmlns:a16="http://schemas.microsoft.com/office/drawing/2014/main" id="{75D8716A-E4DD-418E-B7E1-ED3A0996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ccent-传统学生事务的痛点">
            <a:extLst xmlns:a="http://schemas.openxmlformats.org/drawingml/2006/main">
              <a:ext uri="{FF2B5EF4-FFF2-40B4-BE49-F238E27FC236}">
                <a16:creationId xmlns:a16="http://schemas.microsoft.com/office/drawing/2014/main" id="{29709A18-F98C-4E22-8F0B-287DF5B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6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-title-传统学生事务的痛点">
            <a:extLst xmlns:a="http://schemas.openxmlformats.org/drawingml/2006/main">
              <a:ext uri="{FF2B5EF4-FFF2-40B4-BE49-F238E27FC236}">
                <a16:creationId xmlns:a16="http://schemas.microsoft.com/office/drawing/2014/main" id="{B5530E6F-DED2-42F8-8736-D5C858EF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传统学生事务的痛点</a:t>
            </a:r>
          </a:p>
        </p:txBody>
      </p:sp>
      <p:sp>
        <p:nvSpPr>
          <p:cNvPr id="8" name="panel-body-传统学生事务的痛点">
            <a:extLst xmlns:a="http://schemas.openxmlformats.org/drawingml/2006/main">
              <a:ext uri="{FF2B5EF4-FFF2-40B4-BE49-F238E27FC236}">
                <a16:creationId xmlns:a16="http://schemas.microsoft.com/office/drawing/2014/main" id="{B97EE3C8-D395-4A50-BC7B-5F67049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5529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依赖人工沟通、微信群通知和线下材料流转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常见问题重复咨询，政策材料分散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办理流程不透明，学生难以追踪进度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管理老师需要频繁维护通知、审批申请、跟踪党团流程</a:t>
            </a:r>
          </a:p>
        </p:txBody>
      </p:sp>
      <p:sp>
        <p:nvSpPr>
          <p:cNvPr id="9" name="panel-平台化后的目标">
            <a:extLst xmlns:a="http://schemas.openxmlformats.org/drawingml/2006/main">
              <a:ext uri="{FF2B5EF4-FFF2-40B4-BE49-F238E27FC236}">
                <a16:creationId xmlns:a16="http://schemas.microsoft.com/office/drawing/2014/main" id="{E4F4EC53-E876-44BA-B349-BB0E9AD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AF4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accent-平台化后的目标">
            <a:extLst xmlns:a="http://schemas.openxmlformats.org/drawingml/2006/main">
              <a:ext uri="{FF2B5EF4-FFF2-40B4-BE49-F238E27FC236}">
                <a16:creationId xmlns:a16="http://schemas.microsoft.com/office/drawing/2014/main" id="{10B6271A-1813-4CAF-AD60-B0456EC1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平台化后的目标">
            <a:extLst xmlns:a="http://schemas.openxmlformats.org/drawingml/2006/main">
              <a:ext uri="{FF2B5EF4-FFF2-40B4-BE49-F238E27FC236}">
                <a16:creationId xmlns:a16="http://schemas.microsoft.com/office/drawing/2014/main" id="{B513A96E-6179-4F12-B859-41F16AC4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平台化后的目标</a:t>
            </a:r>
          </a:p>
        </p:txBody>
      </p:sp>
      <p:sp>
        <p:nvSpPr>
          <p:cNvPr id="12" name="panel-body-平台化后的目标">
            <a:extLst xmlns:a="http://schemas.openxmlformats.org/drawingml/2006/main">
              <a:ext uri="{FF2B5EF4-FFF2-40B4-BE49-F238E27FC236}">
                <a16:creationId xmlns:a16="http://schemas.microsoft.com/office/drawing/2014/main" id="{5DD79544-3B3F-4BF6-9CBA-3C680BA7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5529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电子化办理：申请、审批、证明形成闭环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知识库咨询：政策条目与标准问答集中维护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精准通知：按标签、年级和角色投递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流程可视化：党团进度可查、材料可追踪</a:t>
            </a:r>
          </a:p>
        </p:txBody>
      </p:sp>
      <p:sp>
        <p:nvSpPr>
          <p:cNvPr id="13" name="arrow">
            <a:extLst xmlns:a="http://schemas.openxmlformats.org/drawingml/2006/main">
              <a:ext uri="{FF2B5EF4-FFF2-40B4-BE49-F238E27FC236}">
                <a16:creationId xmlns:a16="http://schemas.microsoft.com/office/drawing/2014/main" id="{4293CF2F-2F72-4909-AD07-C01EB044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051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2264D1"/>
                </a:solidFill>
              </a:defRPr>
            </a:pPr>
            <a:r>
              <a:rPr sz="4200" b="1">
                <a:solidFill>
                  <a:srgbClr val="2264D1"/>
                </a:solidFill>
              </a:rPr>
              <a:t>→</a:t>
            </a:r>
          </a:p>
        </p:txBody>
      </p:sp>
      <p:sp>
        <p:nvSpPr>
          <p:cNvPr id="14" name="metric-服务学生规模">
            <a:extLst xmlns:a="http://schemas.openxmlformats.org/drawingml/2006/main">
              <a:ext uri="{FF2B5EF4-FFF2-40B4-BE49-F238E27FC236}">
                <a16:creationId xmlns:a16="http://schemas.microsoft.com/office/drawing/2014/main" id="{63112727-4824-4949-B6A0-C08E1F45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483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5" name="metric-value-服务学生规模">
            <a:extLst xmlns:a="http://schemas.openxmlformats.org/drawingml/2006/main">
              <a:ext uri="{FF2B5EF4-FFF2-40B4-BE49-F238E27FC236}">
                <a16:creationId xmlns:a16="http://schemas.microsoft.com/office/drawing/2014/main" id="{53D36258-B315-466F-BF0E-5BAAF759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626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264D1"/>
                </a:solidFill>
              </a:defRPr>
            </a:pPr>
            <a:r>
              <a:rPr sz="2100" b="1">
                <a:solidFill>
                  <a:srgbClr val="2264D1"/>
                </a:solidFill>
              </a:rPr>
              <a:t>1200+</a:t>
            </a:r>
          </a:p>
        </p:txBody>
      </p:sp>
      <p:sp>
        <p:nvSpPr>
          <p:cNvPr id="16" name="metric-label-服务学生规模">
            <a:extLst xmlns:a="http://schemas.openxmlformats.org/drawingml/2006/main">
              <a:ext uri="{FF2B5EF4-FFF2-40B4-BE49-F238E27FC236}">
                <a16:creationId xmlns:a16="http://schemas.microsoft.com/office/drawing/2014/main" id="{75FF7C87-0B1A-430B-B6BD-8C960C77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82"/>
                </a:solidFill>
              </a:defRPr>
            </a:pPr>
            <a:r>
              <a:rPr sz="1050" b="1">
                <a:solidFill>
                  <a:srgbClr val="5C6B82"/>
                </a:solidFill>
              </a:rPr>
              <a:t>服务学生规模</a:t>
            </a:r>
          </a:p>
        </p:txBody>
      </p:sp>
      <p:sp>
        <p:nvSpPr>
          <p:cNvPr id="17" name="metric-并发访问参考">
            <a:extLst xmlns:a="http://schemas.openxmlformats.org/drawingml/2006/main">
              <a:ext uri="{FF2B5EF4-FFF2-40B4-BE49-F238E27FC236}">
                <a16:creationId xmlns:a16="http://schemas.microsoft.com/office/drawing/2014/main" id="{6A27BE5D-3121-4EE8-A4BB-E2279E33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483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metric-value-并发访问参考">
            <a:extLst xmlns:a="http://schemas.openxmlformats.org/drawingml/2006/main">
              <a:ext uri="{FF2B5EF4-FFF2-40B4-BE49-F238E27FC236}">
                <a16:creationId xmlns:a16="http://schemas.microsoft.com/office/drawing/2014/main" id="{48D6A0AE-246E-41DF-ABE8-50F852CA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626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A6B7"/>
                </a:solidFill>
              </a:defRPr>
            </a:pPr>
            <a:r>
              <a:rPr sz="2100" b="1">
                <a:solidFill>
                  <a:srgbClr val="1AA6B7"/>
                </a:solidFill>
              </a:rPr>
              <a:t>300</a:t>
            </a:r>
          </a:p>
        </p:txBody>
      </p:sp>
      <p:sp>
        <p:nvSpPr>
          <p:cNvPr id="19" name="metric-label-并发访问参考">
            <a:extLst xmlns:a="http://schemas.openxmlformats.org/drawingml/2006/main">
              <a:ext uri="{FF2B5EF4-FFF2-40B4-BE49-F238E27FC236}">
                <a16:creationId xmlns:a16="http://schemas.microsoft.com/office/drawing/2014/main" id="{B529D5C1-0328-4A87-9BB3-6B4475CC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0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82"/>
                </a:solidFill>
              </a:defRPr>
            </a:pPr>
            <a:r>
              <a:rPr sz="1050" b="1">
                <a:solidFill>
                  <a:srgbClr val="5C6B82"/>
                </a:solidFill>
              </a:rPr>
              <a:t>并发访问参考</a:t>
            </a:r>
          </a:p>
        </p:txBody>
      </p:sp>
      <p:sp>
        <p:nvSpPr>
          <p:cNvPr id="20" name="metric-学生端与管理端">
            <a:extLst xmlns:a="http://schemas.openxmlformats.org/drawingml/2006/main">
              <a:ext uri="{FF2B5EF4-FFF2-40B4-BE49-F238E27FC236}">
                <a16:creationId xmlns:a16="http://schemas.microsoft.com/office/drawing/2014/main" id="{BFD58E2B-1565-42A9-8FA2-D9DAFC5B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483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1" name="metric-value-学生端与管理端">
            <a:extLst xmlns:a="http://schemas.openxmlformats.org/drawingml/2006/main">
              <a:ext uri="{FF2B5EF4-FFF2-40B4-BE49-F238E27FC236}">
                <a16:creationId xmlns:a16="http://schemas.microsoft.com/office/drawing/2014/main" id="{753E2BBB-839D-43C5-90D5-FC80B195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626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8F63"/>
                </a:solidFill>
              </a:defRPr>
            </a:pPr>
            <a:r>
              <a:rPr sz="2100" b="1">
                <a:solidFill>
                  <a:srgbClr val="2E8F63"/>
                </a:solidFill>
              </a:rPr>
              <a:t>2 端</a:t>
            </a:r>
          </a:p>
        </p:txBody>
      </p:sp>
      <p:sp>
        <p:nvSpPr>
          <p:cNvPr id="22" name="metric-label-学生端与管理端">
            <a:extLst xmlns:a="http://schemas.openxmlformats.org/drawingml/2006/main">
              <a:ext uri="{FF2B5EF4-FFF2-40B4-BE49-F238E27FC236}">
                <a16:creationId xmlns:a16="http://schemas.microsoft.com/office/drawing/2014/main" id="{C2B828C1-86D0-4FC7-A9C8-C83DB0A2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0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82"/>
                </a:solidFill>
              </a:defRPr>
            </a:pPr>
            <a:r>
              <a:rPr sz="1050" b="1">
                <a:solidFill>
                  <a:srgbClr val="5C6B82"/>
                </a:solidFill>
              </a:rPr>
              <a:t>学生端与管理端</a:t>
            </a:r>
          </a:p>
        </p:txBody>
      </p:sp>
    </p:spTree>
    <p:extLst>
      <p:ext uri="{BB962C8B-B14F-4D97-AF65-F5344CB8AC3E}">
        <p14:creationId xmlns:p14="http://schemas.microsoft.com/office/powerpoint/2010/main" val="138916183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9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47C4C266-A1C5-4238-B394-01ED731A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33303D2-9EB1-409A-AEB0-3970E14B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4D1"/>
                </a:solidFill>
              </a:defRPr>
            </a:pPr>
            <a:r>
              <a:rPr sz="1350" b="1">
                <a:solidFill>
                  <a:srgbClr val="2264D1"/>
                </a:solidFill>
              </a:rPr>
              <a:t>做了什么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FA07E1-BBBD-4408-9D55-6241C840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F"/>
                </a:solidFill>
              </a:defRPr>
            </a:pPr>
            <a:r>
              <a:rPr sz="3000" b="1">
                <a:solidFill>
                  <a:srgbClr val="10213F"/>
                </a:solidFill>
              </a:rPr>
              <a:t>总体功能结构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4F568A2-16F9-426A-AF3E-F09E272D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B99AB"/>
                </a:solidFill>
              </a:defRPr>
            </a:pPr>
            <a:r>
              <a:rPr sz="1350" b="1">
                <a:solidFill>
                  <a:srgbClr val="8B99AB"/>
                </a:solidFill>
              </a:rPr>
              <a:t>03</a:t>
            </a:r>
          </a:p>
        </p:txBody>
      </p:sp>
      <p:sp>
        <p:nvSpPr>
          <p:cNvPr id="5" name="panel-学生端">
            <a:extLst xmlns:a="http://schemas.openxmlformats.org/drawingml/2006/main">
              <a:ext uri="{FF2B5EF4-FFF2-40B4-BE49-F238E27FC236}">
                <a16:creationId xmlns:a16="http://schemas.microsoft.com/office/drawing/2014/main" id="{15A5CA83-3322-4D40-90A7-7CBD9FDB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3429000" cy="4000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ccent-学生端">
            <a:extLst xmlns:a="http://schemas.openxmlformats.org/drawingml/2006/main">
              <a:ext uri="{FF2B5EF4-FFF2-40B4-BE49-F238E27FC236}">
                <a16:creationId xmlns:a16="http://schemas.microsoft.com/office/drawing/2014/main" id="{F855EBB1-7806-4C88-A312-BFBCFCB0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-title-学生端">
            <a:extLst xmlns:a="http://schemas.openxmlformats.org/drawingml/2006/main">
              <a:ext uri="{FF2B5EF4-FFF2-40B4-BE49-F238E27FC236}">
                <a16:creationId xmlns:a16="http://schemas.microsoft.com/office/drawing/2014/main" id="{4B52BD3C-BA8F-4E90-92CB-60DD2D34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学生端</a:t>
            </a:r>
          </a:p>
        </p:txBody>
      </p:sp>
      <p:sp>
        <p:nvSpPr>
          <p:cNvPr id="8" name="panel-body-学生端">
            <a:extLst xmlns:a="http://schemas.openxmlformats.org/drawingml/2006/main">
              <a:ext uri="{FF2B5EF4-FFF2-40B4-BE49-F238E27FC236}">
                <a16:creationId xmlns:a16="http://schemas.microsoft.com/office/drawing/2014/main" id="{366E3F18-9D60-44FA-8CE1-E5BBB1A6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0289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首页概览、待办提醒、未读通知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智能咨询与政策知识库检索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党团流程时间线与材料提交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证明申请、PDF 预览、记录查询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成绩分析、模板下载、个人信息维护</a:t>
            </a:r>
          </a:p>
        </p:txBody>
      </p:sp>
      <p:sp>
        <p:nvSpPr>
          <p:cNvPr id="9" name="panel-管理员端">
            <a:extLst xmlns:a="http://schemas.openxmlformats.org/drawingml/2006/main">
              <a:ext uri="{FF2B5EF4-FFF2-40B4-BE49-F238E27FC236}">
                <a16:creationId xmlns:a16="http://schemas.microsoft.com/office/drawing/2014/main" id="{598CBC5E-3624-423D-AAA8-1422587D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429000" cy="4000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AF4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accent-管理员端">
            <a:extLst xmlns:a="http://schemas.openxmlformats.org/drawingml/2006/main">
              <a:ext uri="{FF2B5EF4-FFF2-40B4-BE49-F238E27FC236}">
                <a16:creationId xmlns:a16="http://schemas.microsoft.com/office/drawing/2014/main" id="{E74D4543-4C9F-4ED6-A5C8-80FDD0CF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管理员端">
            <a:extLst xmlns:a="http://schemas.openxmlformats.org/drawingml/2006/main">
              <a:ext uri="{FF2B5EF4-FFF2-40B4-BE49-F238E27FC236}">
                <a16:creationId xmlns:a16="http://schemas.microsoft.com/office/drawing/2014/main" id="{B741C2F3-BF23-45E2-B03F-8A447DB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288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管理员端</a:t>
            </a:r>
          </a:p>
        </p:txBody>
      </p:sp>
      <p:sp>
        <p:nvSpPr>
          <p:cNvPr id="12" name="panel-body-管理员端">
            <a:extLst xmlns:a="http://schemas.openxmlformats.org/drawingml/2006/main">
              <a:ext uri="{FF2B5EF4-FFF2-40B4-BE49-F238E27FC236}">
                <a16:creationId xmlns:a16="http://schemas.microsoft.com/office/drawing/2014/main" id="{1A8D97B4-4E29-4BAA-845D-27F24678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30289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后台首页与核心数据概览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用户、知识库、通知管理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入党 / 入团流程节点配置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证明申请与党团材料审批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模板管理、培养方案维护</a:t>
            </a:r>
          </a:p>
        </p:txBody>
      </p:sp>
      <p:sp>
        <p:nvSpPr>
          <p:cNvPr id="13" name="panel-公共能力">
            <a:extLst xmlns:a="http://schemas.openxmlformats.org/drawingml/2006/main">
              <a:ext uri="{FF2B5EF4-FFF2-40B4-BE49-F238E27FC236}">
                <a16:creationId xmlns:a16="http://schemas.microsoft.com/office/drawing/2014/main" id="{42956C30-A6FF-444D-BE3C-B72F8D74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19250"/>
            <a:ext cx="3429000" cy="4000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accent-公共能力">
            <a:extLst xmlns:a="http://schemas.openxmlformats.org/drawingml/2006/main">
              <a:ext uri="{FF2B5EF4-FFF2-40B4-BE49-F238E27FC236}">
                <a16:creationId xmlns:a16="http://schemas.microsoft.com/office/drawing/2014/main" id="{233343D8-8236-482E-A82D-4265284F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公共能力">
            <a:extLst xmlns:a="http://schemas.openxmlformats.org/drawingml/2006/main">
              <a:ext uri="{FF2B5EF4-FFF2-40B4-BE49-F238E27FC236}">
                <a16:creationId xmlns:a16="http://schemas.microsoft.com/office/drawing/2014/main" id="{8A82B461-3367-4F0C-BA61-3F0B6593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公共能力</a:t>
            </a:r>
          </a:p>
        </p:txBody>
      </p:sp>
      <p:sp>
        <p:nvSpPr>
          <p:cNvPr id="16" name="panel-body-公共能力">
            <a:extLst xmlns:a="http://schemas.openxmlformats.org/drawingml/2006/main">
              <a:ext uri="{FF2B5EF4-FFF2-40B4-BE49-F238E27FC236}">
                <a16:creationId xmlns:a16="http://schemas.microsoft.com/office/drawing/2014/main" id="{E612A89E-C4EB-48EE-B000-E91E6F40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30289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登录注册与 JWT 鉴权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角色权限控制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文件上传与附件管理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Excel 导入导出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DOCX 模板与证明文件处理</a:t>
            </a:r>
          </a:p>
        </p:txBody>
      </p:sp>
      <p:sp>
        <p:nvSpPr>
          <p:cNvPr id="17" name="summary">
            <a:extLst xmlns:a="http://schemas.openxmlformats.org/drawingml/2006/main">
              <a:ext uri="{FF2B5EF4-FFF2-40B4-BE49-F238E27FC236}">
                <a16:creationId xmlns:a16="http://schemas.microsoft.com/office/drawing/2014/main" id="{D47C2316-6122-4573-A90F-DF25A447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F"/>
                </a:solidFill>
              </a:defRPr>
            </a:pPr>
            <a:r>
              <a:rPr sz="1650" b="1">
                <a:solidFill>
                  <a:srgbClr val="10213F"/>
                </a:solidFill>
              </a:rPr>
              <a:t>两端共享同一套后端数据，避免学生端和管理员端状态不一致。</a:t>
            </a:r>
          </a:p>
        </p:txBody>
      </p:sp>
    </p:spTree>
    <p:extLst>
      <p:ext uri="{BB962C8B-B14F-4D97-AF65-F5344CB8AC3E}">
        <p14:creationId xmlns:p14="http://schemas.microsoft.com/office/powerpoint/2010/main" val="72781030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9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3798D10F-0A6E-486E-9C43-AEC8F073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55B3FA9-1F9B-4895-9C93-631782B2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4D1"/>
                </a:solidFill>
              </a:defRPr>
            </a:pPr>
            <a:r>
              <a:rPr sz="1350" b="1">
                <a:solidFill>
                  <a:srgbClr val="2264D1"/>
                </a:solidFill>
              </a:rPr>
              <a:t>怎么实现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D7754B-2E30-47A3-9291-DC60767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F"/>
                </a:solidFill>
              </a:defRPr>
            </a:pPr>
            <a:r>
              <a:rPr sz="3000" b="1">
                <a:solidFill>
                  <a:srgbClr val="10213F"/>
                </a:solidFill>
              </a:rPr>
              <a:t>技术架构与运行方式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FED5194-2094-471A-94CE-5B372597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B99AB"/>
                </a:solidFill>
              </a:defRPr>
            </a:pPr>
            <a:r>
              <a:rPr sz="1350" b="1">
                <a:solidFill>
                  <a:srgbClr val="8B99AB"/>
                </a:solidFill>
              </a:rPr>
              <a:t>04</a:t>
            </a:r>
          </a:p>
        </p:txBody>
      </p:sp>
      <p:sp>
        <p:nvSpPr>
          <p:cNvPr id="5" name="panel-技术栈">
            <a:extLst xmlns:a="http://schemas.openxmlformats.org/drawingml/2006/main">
              <a:ext uri="{FF2B5EF4-FFF2-40B4-BE49-F238E27FC236}">
                <a16:creationId xmlns:a16="http://schemas.microsoft.com/office/drawing/2014/main" id="{9CC3A357-9B73-4048-9034-4AED5B5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47625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ccent-技术栈">
            <a:extLst xmlns:a="http://schemas.openxmlformats.org/drawingml/2006/main">
              <a:ext uri="{FF2B5EF4-FFF2-40B4-BE49-F238E27FC236}">
                <a16:creationId xmlns:a16="http://schemas.microsoft.com/office/drawing/2014/main" id="{CA257FAA-2A02-4B1A-95C3-4069B8E6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762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-title-技术栈">
            <a:extLst xmlns:a="http://schemas.openxmlformats.org/drawingml/2006/main">
              <a:ext uri="{FF2B5EF4-FFF2-40B4-BE49-F238E27FC236}">
                <a16:creationId xmlns:a16="http://schemas.microsoft.com/office/drawing/2014/main" id="{DCCC4174-2DBB-4DCD-830F-B8E55518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技术栈</a:t>
            </a:r>
          </a:p>
        </p:txBody>
      </p:sp>
      <p:sp>
        <p:nvSpPr>
          <p:cNvPr id="8" name="panel-body-技术栈">
            <a:extLst xmlns:a="http://schemas.openxmlformats.org/drawingml/2006/main">
              <a:ext uri="{FF2B5EF4-FFF2-40B4-BE49-F238E27FC236}">
                <a16:creationId xmlns:a16="http://schemas.microsoft.com/office/drawing/2014/main" id="{EF31D546-A642-4B99-A659-82D1CD88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3624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前端：HTML + CSS + JavaScript 单页应用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后端：Node.js + Express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数据库：人大金仓 KingbaseES，使用 pg 驱动连接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接口：RESTful API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认证：JWT Token + 角色权限中间件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文档能力：multer、xlsx、docxtemplater、docx-preview、html2pdf、Gotenberg / LibreOffice</a:t>
            </a:r>
          </a:p>
        </p:txBody>
      </p:sp>
      <p:sp>
        <p:nvSpPr>
          <p:cNvPr id="9" name="arch-0">
            <a:extLst xmlns:a="http://schemas.openxmlformats.org/drawingml/2006/main">
              <a:ext uri="{FF2B5EF4-FFF2-40B4-BE49-F238E27FC236}">
                <a16:creationId xmlns:a16="http://schemas.microsoft.com/office/drawing/2014/main" id="{4FF515F9-74F4-406B-A149-4D5EEA91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4476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9CA83C32-4B9B-439B-AACA-F9E9A444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0497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浏览器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学生端 / 管理端</a:t>
            </a:r>
          </a:p>
        </p:txBody>
      </p:sp>
      <p:sp>
        <p:nvSpPr>
          <p:cNvPr id="11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0802C59F-A898-49D4-8314-08E74F1F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C6B82"/>
                </a:solidFill>
              </a:defRPr>
            </a:pPr>
            <a:r>
              <a:rPr sz="1725" b="1">
                <a:solidFill>
                  <a:srgbClr val="5C6B82"/>
                </a:solidFill>
              </a:rPr>
              <a:t>↓</a:t>
            </a:r>
          </a:p>
        </p:txBody>
      </p:sp>
      <p:sp>
        <p:nvSpPr>
          <p:cNvPr id="12" name="arch-1">
            <a:extLst xmlns:a="http://schemas.openxmlformats.org/drawingml/2006/main">
              <a:ext uri="{FF2B5EF4-FFF2-40B4-BE49-F238E27FC236}">
                <a16:creationId xmlns:a16="http://schemas.microsoft.com/office/drawing/2014/main" id="{B3DA860E-A8BF-4DCE-B97C-CC26805C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4476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AA6B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3B3D259F-6CB3-4563-97AC-B6E2B24D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6222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Express REST API</a:t>
            </a:r>
          </a:p>
        </p:txBody>
      </p:sp>
      <p:sp>
        <p:nvSpPr>
          <p:cNvPr id="14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5848F4C5-DB57-4F41-A1B7-F1310586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C6B82"/>
                </a:solidFill>
              </a:defRPr>
            </a:pPr>
            <a:r>
              <a:rPr sz="1725" b="1">
                <a:solidFill>
                  <a:srgbClr val="5C6B82"/>
                </a:solidFill>
              </a:rPr>
              <a:t>↓</a:t>
            </a:r>
          </a:p>
        </p:txBody>
      </p:sp>
      <p:sp>
        <p:nvSpPr>
          <p:cNvPr id="15" name="arch-2">
            <a:extLst xmlns:a="http://schemas.openxmlformats.org/drawingml/2006/main">
              <a:ext uri="{FF2B5EF4-FFF2-40B4-BE49-F238E27FC236}">
                <a16:creationId xmlns:a16="http://schemas.microsoft.com/office/drawing/2014/main" id="{11EFA11D-7FDA-42CF-A838-98FFC57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4476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8F6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90898AE7-62DB-481A-B193-FFD1B4A5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JWT 鉴权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角色权限中间件</a:t>
            </a:r>
          </a:p>
        </p:txBody>
      </p:sp>
      <p:sp>
        <p:nvSpPr>
          <p:cNvPr id="17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0AD13AE5-A85A-4834-9267-AEF53D34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C6B82"/>
                </a:solidFill>
              </a:defRPr>
            </a:pPr>
            <a:r>
              <a:rPr sz="1725" b="1">
                <a:solidFill>
                  <a:srgbClr val="5C6B82"/>
                </a:solidFill>
              </a:rPr>
              <a:t>↓</a:t>
            </a:r>
          </a:p>
        </p:txBody>
      </p:sp>
      <p:sp>
        <p:nvSpPr>
          <p:cNvPr id="18" name="arch-3">
            <a:extLst xmlns:a="http://schemas.openxmlformats.org/drawingml/2006/main">
              <a:ext uri="{FF2B5EF4-FFF2-40B4-BE49-F238E27FC236}">
                <a16:creationId xmlns:a16="http://schemas.microsoft.com/office/drawing/2014/main" id="{79D865BA-612A-4472-BEFA-4137DB6F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476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339997E3-569E-4495-A0C2-42CE652F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7672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业务模块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routes / controllers</a:t>
            </a:r>
          </a:p>
        </p:txBody>
      </p:sp>
      <p:sp>
        <p:nvSpPr>
          <p:cNvPr id="20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6D7499DB-132C-488A-BDB5-68595286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C6B82"/>
                </a:solidFill>
              </a:defRPr>
            </a:pPr>
            <a:r>
              <a:rPr sz="1725" b="1">
                <a:solidFill>
                  <a:srgbClr val="5C6B82"/>
                </a:solidFill>
              </a:rPr>
              <a:t>↓</a:t>
            </a:r>
          </a:p>
        </p:txBody>
      </p:sp>
      <p:sp>
        <p:nvSpPr>
          <p:cNvPr id="21" name="arch-4">
            <a:extLst xmlns:a="http://schemas.openxmlformats.org/drawingml/2006/main">
              <a:ext uri="{FF2B5EF4-FFF2-40B4-BE49-F238E27FC236}">
                <a16:creationId xmlns:a16="http://schemas.microsoft.com/office/drawing/2014/main" id="{9577F597-BD09-4398-B948-D96AC969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29200"/>
            <a:ext cx="4476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0562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arch-label-4">
            <a:extLst xmlns:a="http://schemas.openxmlformats.org/drawingml/2006/main">
              <a:ext uri="{FF2B5EF4-FFF2-40B4-BE49-F238E27FC236}">
                <a16:creationId xmlns:a16="http://schemas.microsoft.com/office/drawing/2014/main" id="{BC03C5CF-2D59-43A8-B3F2-504639FE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3397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Kingbase 数据库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文件存储 / Gotenberg</a:t>
            </a:r>
          </a:p>
        </p:txBody>
      </p:sp>
      <p:sp>
        <p:nvSpPr>
          <p:cNvPr id="23" name="deploy-note">
            <a:extLst xmlns:a="http://schemas.openxmlformats.org/drawingml/2006/main">
              <a:ext uri="{FF2B5EF4-FFF2-40B4-BE49-F238E27FC236}">
                <a16:creationId xmlns:a16="http://schemas.microsoft.com/office/drawing/2014/main" id="{ADF1E6FE-EB05-4A9F-84D2-FB652BFA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531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F"/>
                </a:solidFill>
              </a:defRPr>
            </a:pPr>
            <a:r>
              <a:rPr sz="1500" b="1">
                <a:solidFill>
                  <a:srgbClr val="10213F"/>
                </a:solidFill>
              </a:rPr>
              <a:t>部署时后端同时托管前端静态页面，课程服务器只需启动一个后端服务。</a:t>
            </a:r>
          </a:p>
        </p:txBody>
      </p:sp>
    </p:spTree>
    <p:extLst>
      <p:ext uri="{BB962C8B-B14F-4D97-AF65-F5344CB8AC3E}">
        <p14:creationId xmlns:p14="http://schemas.microsoft.com/office/powerpoint/2010/main" val="514706125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9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FBB31724-9586-4864-B624-D29939EB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B9A9260-0F7D-4ADD-AA39-9713F305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4D1"/>
                </a:solidFill>
              </a:defRPr>
            </a:pPr>
            <a:r>
              <a:rPr sz="1350" b="1">
                <a:solidFill>
                  <a:srgbClr val="2264D1"/>
                </a:solidFill>
              </a:rPr>
              <a:t>怎么实现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E9F161-5049-4DFA-8AA6-EDC79400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F"/>
                </a:solidFill>
              </a:defRPr>
            </a:pPr>
            <a:r>
              <a:rPr sz="3000" b="1">
                <a:solidFill>
                  <a:srgbClr val="10213F"/>
                </a:solidFill>
              </a:rPr>
              <a:t>数据库设计与核心数据模型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97CEE2C-8A3C-4818-99F5-A017932C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B99AB"/>
                </a:solidFill>
              </a:defRPr>
            </a:pPr>
            <a:r>
              <a:rPr sz="1350" b="1">
                <a:solidFill>
                  <a:srgbClr val="8B99AB"/>
                </a:solidFill>
              </a:rPr>
              <a:t>05</a:t>
            </a:r>
          </a:p>
        </p:txBody>
      </p:sp>
      <p:sp>
        <p:nvSpPr>
          <p:cNvPr id="5" name="db-0">
            <a:extLst xmlns:a="http://schemas.openxmlformats.org/drawingml/2006/main">
              <a:ext uri="{FF2B5EF4-FFF2-40B4-BE49-F238E27FC236}">
                <a16:creationId xmlns:a16="http://schemas.microsoft.com/office/drawing/2014/main" id="{E54E75BD-F537-41A2-9E3B-09C2ADF0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22860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6" name="db-title-0">
            <a:extLst xmlns:a="http://schemas.openxmlformats.org/drawingml/2006/main">
              <a:ext uri="{FF2B5EF4-FFF2-40B4-BE49-F238E27FC236}">
                <a16:creationId xmlns:a16="http://schemas.microsoft.com/office/drawing/2014/main" id="{4AAE75BE-3C83-4C3D-99BC-A30A9A8C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F"/>
                </a:solidFill>
              </a:defRPr>
            </a:pPr>
            <a:r>
              <a:rPr sz="1725" b="1">
                <a:solidFill>
                  <a:srgbClr val="10213F"/>
                </a:solidFill>
              </a:rPr>
              <a:t>用户与档案</a:t>
            </a:r>
          </a:p>
        </p:txBody>
      </p:sp>
      <p:sp>
        <p:nvSpPr>
          <p:cNvPr id="7" name="db-body-0">
            <a:extLst xmlns:a="http://schemas.openxmlformats.org/drawingml/2006/main">
              <a:ext uri="{FF2B5EF4-FFF2-40B4-BE49-F238E27FC236}">
                <a16:creationId xmlns:a16="http://schemas.microsoft.com/office/drawing/2014/main" id="{1EEE93D7-FE5D-46B4-8BA6-865E0769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1943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tb_user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student_profile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admin_profile</a:t>
            </a:r>
          </a:p>
        </p:txBody>
      </p:sp>
      <p:sp>
        <p:nvSpPr>
          <p:cNvPr id="8" name="db-1">
            <a:extLst xmlns:a="http://schemas.openxmlformats.org/drawingml/2006/main">
              <a:ext uri="{FF2B5EF4-FFF2-40B4-BE49-F238E27FC236}">
                <a16:creationId xmlns:a16="http://schemas.microsoft.com/office/drawing/2014/main" id="{8998F0C3-3061-4482-9D31-8D150904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22860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AF4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9" name="db-title-1">
            <a:extLst xmlns:a="http://schemas.openxmlformats.org/drawingml/2006/main">
              <a:ext uri="{FF2B5EF4-FFF2-40B4-BE49-F238E27FC236}">
                <a16:creationId xmlns:a16="http://schemas.microsoft.com/office/drawing/2014/main" id="{24683BB6-9359-498C-998C-3E62D947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47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F"/>
                </a:solidFill>
              </a:defRPr>
            </a:pPr>
            <a:r>
              <a:rPr sz="1725" b="1">
                <a:solidFill>
                  <a:srgbClr val="10213F"/>
                </a:solidFill>
              </a:rPr>
              <a:t>知识库</a:t>
            </a:r>
          </a:p>
        </p:txBody>
      </p:sp>
      <p:sp>
        <p:nvSpPr>
          <p:cNvPr id="10" name="db-body-1">
            <a:extLst xmlns:a="http://schemas.openxmlformats.org/drawingml/2006/main">
              <a:ext uri="{FF2B5EF4-FFF2-40B4-BE49-F238E27FC236}">
                <a16:creationId xmlns:a16="http://schemas.microsoft.com/office/drawing/2014/main" id="{5224BFE6-C5EB-4F46-A0F9-CD52831C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1943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policy_item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qa_pair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template_file</a:t>
            </a:r>
          </a:p>
        </p:txBody>
      </p:sp>
      <p:sp>
        <p:nvSpPr>
          <p:cNvPr id="11" name="db-2">
            <a:extLst xmlns:a="http://schemas.openxmlformats.org/drawingml/2006/main">
              <a:ext uri="{FF2B5EF4-FFF2-40B4-BE49-F238E27FC236}">
                <a16:creationId xmlns:a16="http://schemas.microsoft.com/office/drawing/2014/main" id="{64262A6D-FE86-4A7F-AAC1-EA11289F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22860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db-title-2">
            <a:extLst xmlns:a="http://schemas.openxmlformats.org/drawingml/2006/main">
              <a:ext uri="{FF2B5EF4-FFF2-40B4-BE49-F238E27FC236}">
                <a16:creationId xmlns:a16="http://schemas.microsoft.com/office/drawing/2014/main" id="{58C4C2C3-408F-44DF-8D74-5A234E18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F"/>
                </a:solidFill>
              </a:defRPr>
            </a:pPr>
            <a:r>
              <a:rPr sz="1725" b="1">
                <a:solidFill>
                  <a:srgbClr val="10213F"/>
                </a:solidFill>
              </a:rPr>
              <a:t>党团流程</a:t>
            </a:r>
          </a:p>
        </p:txBody>
      </p:sp>
      <p:sp>
        <p:nvSpPr>
          <p:cNvPr id="13" name="db-body-2">
            <a:extLst xmlns:a="http://schemas.openxmlformats.org/drawingml/2006/main">
              <a:ext uri="{FF2B5EF4-FFF2-40B4-BE49-F238E27FC236}">
                <a16:creationId xmlns:a16="http://schemas.microsoft.com/office/drawing/2014/main" id="{1E01F1EF-DFB8-4C3A-8733-59D649E7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943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party_process_node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student_process_record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party_process_submission</a:t>
            </a:r>
          </a:p>
        </p:txBody>
      </p:sp>
      <p:sp>
        <p:nvSpPr>
          <p:cNvPr id="14" name="db-3">
            <a:extLst xmlns:a="http://schemas.openxmlformats.org/drawingml/2006/main">
              <a:ext uri="{FF2B5EF4-FFF2-40B4-BE49-F238E27FC236}">
                <a16:creationId xmlns:a16="http://schemas.microsoft.com/office/drawing/2014/main" id="{DA8857F9-E711-46EF-8CA4-1201BF7F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52850"/>
            <a:ext cx="22860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AF4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5" name="db-title-3">
            <a:extLst xmlns:a="http://schemas.openxmlformats.org/drawingml/2006/main">
              <a:ext uri="{FF2B5EF4-FFF2-40B4-BE49-F238E27FC236}">
                <a16:creationId xmlns:a16="http://schemas.microsoft.com/office/drawing/2014/main" id="{21682DC1-9ACB-4760-8D71-32F5ACB4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F"/>
                </a:solidFill>
              </a:defRPr>
            </a:pPr>
            <a:r>
              <a:rPr sz="1725" b="1">
                <a:solidFill>
                  <a:srgbClr val="10213F"/>
                </a:solidFill>
              </a:rPr>
              <a:t>审批证明</a:t>
            </a:r>
          </a:p>
        </p:txBody>
      </p:sp>
      <p:sp>
        <p:nvSpPr>
          <p:cNvPr id="16" name="db-body-3">
            <a:extLst xmlns:a="http://schemas.openxmlformats.org/drawingml/2006/main">
              <a:ext uri="{FF2B5EF4-FFF2-40B4-BE49-F238E27FC236}">
                <a16:creationId xmlns:a16="http://schemas.microsoft.com/office/drawing/2014/main" id="{AC39E1A1-0ADC-462F-A0E9-7DCF9C53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05300"/>
            <a:ext cx="1943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application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approval_record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certificate</a:t>
            </a:r>
          </a:p>
        </p:txBody>
      </p:sp>
      <p:sp>
        <p:nvSpPr>
          <p:cNvPr id="17" name="db-4">
            <a:extLst xmlns:a="http://schemas.openxmlformats.org/drawingml/2006/main">
              <a:ext uri="{FF2B5EF4-FFF2-40B4-BE49-F238E27FC236}">
                <a16:creationId xmlns:a16="http://schemas.microsoft.com/office/drawing/2014/main" id="{0C30EE3D-6C8F-4604-BAFB-37E03803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23875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db-title-4">
            <a:extLst xmlns:a="http://schemas.openxmlformats.org/drawingml/2006/main">
              <a:ext uri="{FF2B5EF4-FFF2-40B4-BE49-F238E27FC236}">
                <a16:creationId xmlns:a16="http://schemas.microsoft.com/office/drawing/2014/main" id="{D73F6112-0547-486B-85C5-5C1432AA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F"/>
                </a:solidFill>
              </a:defRPr>
            </a:pPr>
            <a:r>
              <a:rPr sz="1725" b="1">
                <a:solidFill>
                  <a:srgbClr val="10213F"/>
                </a:solidFill>
              </a:rPr>
              <a:t>通知与学业</a:t>
            </a:r>
          </a:p>
        </p:txBody>
      </p:sp>
      <p:sp>
        <p:nvSpPr>
          <p:cNvPr id="19" name="db-body-4">
            <a:extLst xmlns:a="http://schemas.openxmlformats.org/drawingml/2006/main">
              <a:ext uri="{FF2B5EF4-FFF2-40B4-BE49-F238E27FC236}">
                <a16:creationId xmlns:a16="http://schemas.microsoft.com/office/drawing/2014/main" id="{7FFCE858-FCFC-46F3-9AE2-4BF227B0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8958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notice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notice_delivery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training_plan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course_requirement</a:t>
            </a:r>
          </a:p>
          <a:p xmlns:a="http://schemas.openxmlformats.org/drawingml/2006/main">
            <a:pPr algn="l">
              <a:defRPr sz="1275" b="1">
                <a:solidFill>
                  <a:srgbClr val="5C6B82"/>
                </a:solidFill>
              </a:defRPr>
            </a:pPr>
            <a:r>
              <a:rPr sz="1275" b="1">
                <a:solidFill>
                  <a:srgbClr val="5C6B82"/>
                </a:solidFill>
              </a:rPr>
              <a:t>analysis_result</a:t>
            </a:r>
          </a:p>
        </p:txBody>
      </p:sp>
      <p:sp>
        <p:nvSpPr>
          <p:cNvPr id="20" name="db-summary">
            <a:extLst xmlns:a="http://schemas.openxmlformats.org/drawingml/2006/main">
              <a:ext uri="{FF2B5EF4-FFF2-40B4-BE49-F238E27FC236}">
                <a16:creationId xmlns:a16="http://schemas.microsoft.com/office/drawing/2014/main" id="{70C53618-2C0C-4F9C-B005-94DCD86F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007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F"/>
                </a:solidFill>
              </a:defRPr>
            </a:pPr>
            <a:r>
              <a:rPr sz="1500" b="1">
                <a:solidFill>
                  <a:srgbClr val="10213F"/>
                </a:solidFill>
              </a:rPr>
              <a:t>数据库围绕“用户档案”展开：学生档案关联申请、流程记录、通知投递和成绩分析任务；审批记录形成可追踪留痕。</a:t>
            </a:r>
          </a:p>
        </p:txBody>
      </p:sp>
    </p:spTree>
    <p:extLst>
      <p:ext uri="{BB962C8B-B14F-4D97-AF65-F5344CB8AC3E}">
        <p14:creationId xmlns:p14="http://schemas.microsoft.com/office/powerpoint/2010/main" val="1909799047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9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EA8B3AE9-DF10-4E8E-ADDB-120237FF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D23BA42-25B6-4538-B47C-24DA0C87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4D1"/>
                </a:solidFill>
              </a:defRPr>
            </a:pPr>
            <a:r>
              <a:rPr sz="1350" b="1">
                <a:solidFill>
                  <a:srgbClr val="2264D1"/>
                </a:solidFill>
              </a:rPr>
              <a:t>学生侧体验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C3F89E-5D9A-4E63-B7C0-C604B017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F"/>
                </a:solidFill>
              </a:defRPr>
            </a:pPr>
            <a:r>
              <a:rPr sz="3000" b="1">
                <a:solidFill>
                  <a:srgbClr val="10213F"/>
                </a:solidFill>
              </a:rPr>
              <a:t>学生端核心闭环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D1FBADB-8E53-4084-8035-EF2DB028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B99AB"/>
                </a:solidFill>
              </a:defRPr>
            </a:pPr>
            <a:r>
              <a:rPr sz="1350" b="1">
                <a:solidFill>
                  <a:srgbClr val="8B99AB"/>
                </a:solidFill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04193d2eb46f4"/>
          <a:srcRect xmlns:a="http://schemas.openxmlformats.org/drawingml/2006/main" l="4619" t="0" r="46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81150"/>
            <a:ext cx="5810250" cy="3390900"/>
          </a:xfrm>
          <a:prstGeom xmlns:a="http://schemas.openxmlformats.org/drawingml/2006/main" prst="roundRect">
            <a:avLst>
              <a:gd name="adj" fmla="val 2247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2c484f8024e07"/>
          <a:srcRect xmlns:a="http://schemas.openxmlformats.org/drawingml/2006/main" l="0" t="13849" r="0" b="13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4267200"/>
            <a:ext cx="4476750" cy="1714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7" name="panel-闭环价值">
            <a:extLst xmlns:a="http://schemas.openxmlformats.org/drawingml/2006/main">
              <a:ext uri="{FF2B5EF4-FFF2-40B4-BE49-F238E27FC236}">
                <a16:creationId xmlns:a16="http://schemas.microsoft.com/office/drawing/2014/main" id="{DD193D94-3A5E-4EA3-AE99-152E9ED2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81150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ccent-闭环价值">
            <a:extLst xmlns:a="http://schemas.openxmlformats.org/drawingml/2006/main">
              <a:ext uri="{FF2B5EF4-FFF2-40B4-BE49-F238E27FC236}">
                <a16:creationId xmlns:a16="http://schemas.microsoft.com/office/drawing/2014/main" id="{55347829-44D5-4C65-8DC6-02745ADF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811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nel-title-闭环价值">
            <a:extLst xmlns:a="http://schemas.openxmlformats.org/drawingml/2006/main">
              <a:ext uri="{FF2B5EF4-FFF2-40B4-BE49-F238E27FC236}">
                <a16:creationId xmlns:a16="http://schemas.microsoft.com/office/drawing/2014/main" id="{A1F00312-1B21-495A-BD46-0B247E90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闭环价值</a:t>
            </a:r>
          </a:p>
        </p:txBody>
      </p:sp>
      <p:sp>
        <p:nvSpPr>
          <p:cNvPr id="10" name="panel-body-闭环价值">
            <a:extLst xmlns:a="http://schemas.openxmlformats.org/drawingml/2006/main">
              <a:ext uri="{FF2B5EF4-FFF2-40B4-BE49-F238E27FC236}">
                <a16:creationId xmlns:a16="http://schemas.microsoft.com/office/drawing/2014/main" id="{BCE97E9B-8741-42A9-8721-B713F652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4076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首页集中展示待办、通知、流程进度和证明记录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知识库通过关键词检索政策条目和标准问答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党团流程按节点提交材料，支持草稿与历史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证明申请从 DOCX 模板生成填写项，预览后提交审批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成绩分析与培养方案学分要求比对，输出建议</a:t>
            </a:r>
          </a:p>
        </p:txBody>
      </p:sp>
      <p:sp>
        <p:nvSpPr>
          <p:cNvPr id="11" name="student-note">
            <a:extLst xmlns:a="http://schemas.openxmlformats.org/drawingml/2006/main">
              <a:ext uri="{FF2B5EF4-FFF2-40B4-BE49-F238E27FC236}">
                <a16:creationId xmlns:a16="http://schemas.microsoft.com/office/drawing/2014/main" id="{4A566D5B-85E6-49D9-8E34-96A63056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F"/>
                </a:solidFill>
              </a:defRPr>
            </a:pPr>
            <a:r>
              <a:rPr sz="1650" b="1">
                <a:solidFill>
                  <a:srgbClr val="10213F"/>
                </a:solidFill>
              </a:rPr>
              <a:t>设计目标：减少“问老师、找文件、线下跑”的成本。</a:t>
            </a:r>
          </a:p>
        </p:txBody>
      </p:sp>
    </p:spTree>
    <p:extLst>
      <p:ext uri="{BB962C8B-B14F-4D97-AF65-F5344CB8AC3E}">
        <p14:creationId xmlns:p14="http://schemas.microsoft.com/office/powerpoint/2010/main" val="1063938207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9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4584E520-64AC-4FB0-80C4-486F8106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1105FA1-F11C-4F75-955F-3E1A2C16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4D1"/>
                </a:solidFill>
              </a:defRPr>
            </a:pPr>
            <a:r>
              <a:rPr sz="1350" b="1">
                <a:solidFill>
                  <a:srgbClr val="2264D1"/>
                </a:solidFill>
              </a:rPr>
              <a:t>管理侧支撑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EEFA1F-8773-4808-8873-656942E6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F"/>
                </a:solidFill>
              </a:defRPr>
            </a:pPr>
            <a:r>
              <a:rPr sz="3000" b="1">
                <a:solidFill>
                  <a:srgbClr val="10213F"/>
                </a:solidFill>
              </a:rPr>
              <a:t>管理员端核心闭环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0A9EE72-1FE2-4946-8AB4-9433B4C9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B99AB"/>
                </a:solidFill>
              </a:defRPr>
            </a:pPr>
            <a:r>
              <a:rPr sz="1350" b="1">
                <a:solidFill>
                  <a:srgbClr val="8B99AB"/>
                </a:solidFill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be2deba014c43"/>
          <a:srcRect xmlns:a="http://schemas.openxmlformats.org/drawingml/2006/main" l="4619" t="0" r="46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81150"/>
            <a:ext cx="5810250" cy="3390900"/>
          </a:xfrm>
          <a:prstGeom xmlns:a="http://schemas.openxmlformats.org/drawingml/2006/main" prst="roundRect">
            <a:avLst>
              <a:gd name="adj" fmla="val 2247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3e6fa1a64490a"/>
          <a:srcRect xmlns:a="http://schemas.openxmlformats.org/drawingml/2006/main" l="0" t="13849" r="0" b="13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4267200"/>
            <a:ext cx="4476750" cy="1714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7" name="panel-后台支撑能力">
            <a:extLst xmlns:a="http://schemas.openxmlformats.org/drawingml/2006/main">
              <a:ext uri="{FF2B5EF4-FFF2-40B4-BE49-F238E27FC236}">
                <a16:creationId xmlns:a16="http://schemas.microsoft.com/office/drawing/2014/main" id="{ADBD9EE3-D4EE-460F-93D0-1559F451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81150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AF4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ccent-后台支撑能力">
            <a:extLst xmlns:a="http://schemas.openxmlformats.org/drawingml/2006/main">
              <a:ext uri="{FF2B5EF4-FFF2-40B4-BE49-F238E27FC236}">
                <a16:creationId xmlns:a16="http://schemas.microsoft.com/office/drawing/2014/main" id="{DB48E61B-9F34-4980-9584-D76893F2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811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nel-title-后台支撑能力">
            <a:extLst xmlns:a="http://schemas.openxmlformats.org/drawingml/2006/main">
              <a:ext uri="{FF2B5EF4-FFF2-40B4-BE49-F238E27FC236}">
                <a16:creationId xmlns:a16="http://schemas.microsoft.com/office/drawing/2014/main" id="{C35A9467-F452-4715-91D0-B5E42DF8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后台支撑能力</a:t>
            </a:r>
          </a:p>
        </p:txBody>
      </p:sp>
      <p:sp>
        <p:nvSpPr>
          <p:cNvPr id="10" name="panel-body-后台支撑能力">
            <a:extLst xmlns:a="http://schemas.openxmlformats.org/drawingml/2006/main">
              <a:ext uri="{FF2B5EF4-FFF2-40B4-BE49-F238E27FC236}">
                <a16:creationId xmlns:a16="http://schemas.microsoft.com/office/drawing/2014/main" id="{B3A93A00-4790-4C5B-8858-25213297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4076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用户管理：维护账号、角色和状态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知识库管理：政策条目、关键词、分类与附件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通知管理：标签、年级、草稿、发布、批量删除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流程配置：入党 / 入团节点、时间、提醒规则和附件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审批管理：证明申请与党团材料审核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模板与培养方案：支撑证明生成和成绩分析</a:t>
            </a:r>
          </a:p>
        </p:txBody>
      </p:sp>
      <p:sp>
        <p:nvSpPr>
          <p:cNvPr id="11" name="admin-note">
            <a:extLst xmlns:a="http://schemas.openxmlformats.org/drawingml/2006/main">
              <a:ext uri="{FF2B5EF4-FFF2-40B4-BE49-F238E27FC236}">
                <a16:creationId xmlns:a16="http://schemas.microsoft.com/office/drawing/2014/main" id="{31BC828E-9061-4C3F-ADE1-9C812E2A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F"/>
                </a:solidFill>
              </a:defRPr>
            </a:pPr>
            <a:r>
              <a:rPr sz="1650" b="1">
                <a:solidFill>
                  <a:srgbClr val="10213F"/>
                </a:solidFill>
              </a:rPr>
              <a:t>流程节点保存在数据库中，而不是写死在前端。</a:t>
            </a:r>
          </a:p>
        </p:txBody>
      </p:sp>
    </p:spTree>
    <p:extLst>
      <p:ext uri="{BB962C8B-B14F-4D97-AF65-F5344CB8AC3E}">
        <p14:creationId xmlns:p14="http://schemas.microsoft.com/office/powerpoint/2010/main" val="2021187948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9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8FC9E017-C146-4230-BDB7-4C262389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73AD5B6-2574-4598-9DDC-A929ABB8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4D1"/>
                </a:solidFill>
              </a:defRPr>
            </a:pPr>
            <a:r>
              <a:rPr sz="1350" b="1">
                <a:solidFill>
                  <a:srgbClr val="2264D1"/>
                </a:solidFill>
              </a:rPr>
              <a:t>现场演示主线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D4339F-F5BC-4AA6-8BEF-7E1B5903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F"/>
                </a:solidFill>
              </a:defRPr>
            </a:pPr>
            <a:r>
              <a:rPr sz="3000" b="1">
                <a:solidFill>
                  <a:srgbClr val="10213F"/>
                </a:solidFill>
              </a:rPr>
              <a:t>三条重点业务流程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1D3B461-8529-4E3F-AA42-060C0FEB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B99AB"/>
                </a:solidFill>
              </a:defRPr>
            </a:pPr>
            <a:r>
              <a:rPr sz="1350" b="1">
                <a:solidFill>
                  <a:srgbClr val="8B99AB"/>
                </a:solidFill>
              </a:rPr>
              <a:t>08</a:t>
            </a:r>
          </a:p>
        </p:txBody>
      </p:sp>
      <p:sp>
        <p:nvSpPr>
          <p:cNvPr id="5" name="flow-0">
            <a:extLst xmlns:a="http://schemas.openxmlformats.org/drawingml/2006/main">
              <a:ext uri="{FF2B5EF4-FFF2-40B4-BE49-F238E27FC236}">
                <a16:creationId xmlns:a16="http://schemas.microsoft.com/office/drawing/2014/main" id="{27FC58FE-0F17-4470-8747-53A89D78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428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flow-text-0">
            <a:extLst xmlns:a="http://schemas.openxmlformats.org/drawingml/2006/main">
              <a:ext uri="{FF2B5EF4-FFF2-40B4-BE49-F238E27FC236}">
                <a16:creationId xmlns:a16="http://schemas.microsoft.com/office/drawing/2014/main" id="{23ABA482-0E7D-4AE2-8DBF-D9E7F97A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学生端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发起操作</a:t>
            </a:r>
          </a:p>
        </p:txBody>
      </p:sp>
      <p:sp>
        <p:nvSpPr>
          <p:cNvPr id="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7655C30-4AA0-4C91-9391-C6521C75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526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C6B82"/>
                </a:solidFill>
              </a:defRPr>
            </a:pPr>
            <a:r>
              <a:rPr sz="2400" b="1">
                <a:solidFill>
                  <a:srgbClr val="5C6B82"/>
                </a:solidFill>
              </a:rPr>
              <a:t>→</a:t>
            </a:r>
          </a:p>
        </p:txBody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9799B9D4-A0D5-4EA2-90D8-8C65972D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66900"/>
            <a:ext cx="1428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AA6B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flow-text-1">
            <a:extLst xmlns:a="http://schemas.openxmlformats.org/drawingml/2006/main">
              <a:ext uri="{FF2B5EF4-FFF2-40B4-BE49-F238E27FC236}">
                <a16:creationId xmlns:a16="http://schemas.microsoft.com/office/drawing/2014/main" id="{24F27087-77B3-478B-BE38-F56BEB73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764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Express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REST API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2FEC7E31-7E15-4915-A771-19830D61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1526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C6B82"/>
                </a:solidFill>
              </a:defRPr>
            </a:pPr>
            <a:r>
              <a:rPr sz="2400" b="1">
                <a:solidFill>
                  <a:srgbClr val="5C6B82"/>
                </a:solidFill>
              </a:rPr>
              <a:t>→</a:t>
            </a:r>
          </a:p>
        </p:txBody>
      </p:sp>
      <p:sp>
        <p:nvSpPr>
          <p:cNvPr id="11" name="flow-2">
            <a:extLst xmlns:a="http://schemas.openxmlformats.org/drawingml/2006/main">
              <a:ext uri="{FF2B5EF4-FFF2-40B4-BE49-F238E27FC236}">
                <a16:creationId xmlns:a16="http://schemas.microsoft.com/office/drawing/2014/main" id="{CDB8EF18-A81C-4CAA-B762-BF702B73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66900"/>
            <a:ext cx="1428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E8F6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flow-text-2">
            <a:extLst xmlns:a="http://schemas.openxmlformats.org/drawingml/2006/main">
              <a:ext uri="{FF2B5EF4-FFF2-40B4-BE49-F238E27FC236}">
                <a16:creationId xmlns:a16="http://schemas.microsoft.com/office/drawing/2014/main" id="{713418DB-0373-448A-9615-E3ECB355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JWT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权限校验</a:t>
            </a:r>
          </a:p>
        </p:txBody>
      </p:sp>
      <p:sp>
        <p:nvSpPr>
          <p:cNvPr id="1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28713A8B-2A8F-41FE-BD3E-C51DA00F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526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C6B82"/>
                </a:solidFill>
              </a:defRPr>
            </a:pPr>
            <a:r>
              <a:rPr sz="2400" b="1">
                <a:solidFill>
                  <a:srgbClr val="5C6B82"/>
                </a:solidFill>
              </a:rPr>
              <a:t>→</a:t>
            </a:r>
          </a:p>
        </p:txBody>
      </p:sp>
      <p:sp>
        <p:nvSpPr>
          <p:cNvPr id="14" name="flow-3">
            <a:extLst xmlns:a="http://schemas.openxmlformats.org/drawingml/2006/main">
              <a:ext uri="{FF2B5EF4-FFF2-40B4-BE49-F238E27FC236}">
                <a16:creationId xmlns:a16="http://schemas.microsoft.com/office/drawing/2014/main" id="{1BB1769A-8EBF-430D-A4D6-11C677BF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866900"/>
            <a:ext cx="1428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flow-text-3">
            <a:extLst xmlns:a="http://schemas.openxmlformats.org/drawingml/2006/main">
              <a:ext uri="{FF2B5EF4-FFF2-40B4-BE49-F238E27FC236}">
                <a16:creationId xmlns:a16="http://schemas.microsoft.com/office/drawing/2014/main" id="{C96633F5-6691-4E51-86BE-A529C002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764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Kingbase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数据落库</a:t>
            </a:r>
          </a:p>
        </p:txBody>
      </p:sp>
      <p:sp>
        <p:nvSpPr>
          <p:cNvPr id="1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5CAA8D6-CEA7-45EA-92A3-033F04CC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526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C6B82"/>
                </a:solidFill>
              </a:defRPr>
            </a:pPr>
            <a:r>
              <a:rPr sz="2400" b="1">
                <a:solidFill>
                  <a:srgbClr val="5C6B82"/>
                </a:solidFill>
              </a:rPr>
              <a:t>→</a:t>
            </a:r>
          </a:p>
        </p:txBody>
      </p:sp>
      <p:sp>
        <p:nvSpPr>
          <p:cNvPr id="17" name="flow-4">
            <a:extLst xmlns:a="http://schemas.openxmlformats.org/drawingml/2006/main">
              <a:ext uri="{FF2B5EF4-FFF2-40B4-BE49-F238E27FC236}">
                <a16:creationId xmlns:a16="http://schemas.microsoft.com/office/drawing/2014/main" id="{D1F032B2-C696-49E0-A4A2-1D850C89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1428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C0562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flow-text-4">
            <a:extLst xmlns:a="http://schemas.openxmlformats.org/drawingml/2006/main">
              <a:ext uri="{FF2B5EF4-FFF2-40B4-BE49-F238E27FC236}">
                <a16:creationId xmlns:a16="http://schemas.microsoft.com/office/drawing/2014/main" id="{1D657B20-01B5-4FB1-8DC1-FE214F86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管理端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审核配置</a:t>
            </a:r>
          </a:p>
        </p:txBody>
      </p:sp>
      <p:sp>
        <p:nvSpPr>
          <p:cNvPr id="19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3F1FB88A-7C22-411B-832B-73E761E5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526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C6B82"/>
                </a:solidFill>
              </a:defRPr>
            </a:pPr>
            <a:r>
              <a:rPr sz="2400" b="1">
                <a:solidFill>
                  <a:srgbClr val="5C6B82"/>
                </a:solidFill>
              </a:rPr>
              <a:t>→</a:t>
            </a:r>
          </a:p>
        </p:txBody>
      </p:sp>
      <p:sp>
        <p:nvSpPr>
          <p:cNvPr id="20" name="flow-5">
            <a:extLst xmlns:a="http://schemas.openxmlformats.org/drawingml/2006/main">
              <a:ext uri="{FF2B5EF4-FFF2-40B4-BE49-F238E27FC236}">
                <a16:creationId xmlns:a16="http://schemas.microsoft.com/office/drawing/2014/main" id="{960ED558-906B-4E19-BF95-A36300E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866900"/>
            <a:ext cx="1428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flow-text-5">
            <a:extLst xmlns:a="http://schemas.openxmlformats.org/drawingml/2006/main">
              <a:ext uri="{FF2B5EF4-FFF2-40B4-BE49-F238E27FC236}">
                <a16:creationId xmlns:a16="http://schemas.microsoft.com/office/drawing/2014/main" id="{0B156299-DCC2-46CA-853D-B0A77E9F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0764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状态回写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学生可见</a:t>
            </a:r>
          </a:p>
        </p:txBody>
      </p:sp>
      <p:sp>
        <p:nvSpPr>
          <p:cNvPr id="22" name="panel-登录与身份识别">
            <a:extLst xmlns:a="http://schemas.openxmlformats.org/drawingml/2006/main">
              <a:ext uri="{FF2B5EF4-FFF2-40B4-BE49-F238E27FC236}">
                <a16:creationId xmlns:a16="http://schemas.microsoft.com/office/drawing/2014/main" id="{95FECFA2-1899-474C-AB7F-EAE2C44B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2194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accent-登录与身份识别">
            <a:extLst xmlns:a="http://schemas.openxmlformats.org/drawingml/2006/main">
              <a:ext uri="{FF2B5EF4-FFF2-40B4-BE49-F238E27FC236}">
                <a16:creationId xmlns:a16="http://schemas.microsoft.com/office/drawing/2014/main" id="{8B094E97-F3F6-49C1-A4F3-8F36795E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nel-title-登录与身份识别">
            <a:extLst xmlns:a="http://schemas.openxmlformats.org/drawingml/2006/main">
              <a:ext uri="{FF2B5EF4-FFF2-40B4-BE49-F238E27FC236}">
                <a16:creationId xmlns:a16="http://schemas.microsoft.com/office/drawing/2014/main" id="{915DD4D2-EB27-4E1F-95A3-EFCE0533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登录与身份识别</a:t>
            </a:r>
          </a:p>
        </p:txBody>
      </p:sp>
      <p:sp>
        <p:nvSpPr>
          <p:cNvPr id="25" name="panel-body-登录与身份识别">
            <a:extLst xmlns:a="http://schemas.openxmlformats.org/drawingml/2006/main">
              <a:ext uri="{FF2B5EF4-FFF2-40B4-BE49-F238E27FC236}">
                <a16:creationId xmlns:a16="http://schemas.microsoft.com/office/drawing/2014/main" id="{7A0B20F0-3E6B-4580-BB51-95C6B5DD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281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账号密码校验 tb_user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签发 JWT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后续请求携带 Token</a:t>
            </a:r>
          </a:p>
        </p:txBody>
      </p:sp>
      <p:sp>
        <p:nvSpPr>
          <p:cNvPr id="26" name="panel-证明申请审批">
            <a:extLst xmlns:a="http://schemas.openxmlformats.org/drawingml/2006/main">
              <a:ext uri="{FF2B5EF4-FFF2-40B4-BE49-F238E27FC236}">
                <a16:creationId xmlns:a16="http://schemas.microsoft.com/office/drawing/2014/main" id="{94158FDC-B227-42CD-BF5D-51A4A57E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32194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AF4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accent-证明申请审批">
            <a:extLst xmlns:a="http://schemas.openxmlformats.org/drawingml/2006/main">
              <a:ext uri="{FF2B5EF4-FFF2-40B4-BE49-F238E27FC236}">
                <a16:creationId xmlns:a16="http://schemas.microsoft.com/office/drawing/2014/main" id="{15B072B0-8DE6-4F16-984D-796F55AC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nel-title-证明申请审批">
            <a:extLst xmlns:a="http://schemas.openxmlformats.org/drawingml/2006/main">
              <a:ext uri="{FF2B5EF4-FFF2-40B4-BE49-F238E27FC236}">
                <a16:creationId xmlns:a16="http://schemas.microsoft.com/office/drawing/2014/main" id="{1DB154A7-791F-4510-908F-ADEF6181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33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证明申请审批</a:t>
            </a:r>
          </a:p>
        </p:txBody>
      </p:sp>
      <p:sp>
        <p:nvSpPr>
          <p:cNvPr id="29" name="panel-body-证明申请审批">
            <a:extLst xmlns:a="http://schemas.openxmlformats.org/drawingml/2006/main">
              <a:ext uri="{FF2B5EF4-FFF2-40B4-BE49-F238E27FC236}">
                <a16:creationId xmlns:a16="http://schemas.microsoft.com/office/drawing/2014/main" id="{E4606659-DC84-49BE-A6A3-0C84AA35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10050"/>
            <a:ext cx="281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学生提交 application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管理员审核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结果写入 approval_record</a:t>
            </a:r>
          </a:p>
        </p:txBody>
      </p:sp>
      <p:sp>
        <p:nvSpPr>
          <p:cNvPr id="30" name="panel-党团流程流转">
            <a:extLst xmlns:a="http://schemas.openxmlformats.org/drawingml/2006/main">
              <a:ext uri="{FF2B5EF4-FFF2-40B4-BE49-F238E27FC236}">
                <a16:creationId xmlns:a16="http://schemas.microsoft.com/office/drawing/2014/main" id="{88D4F7A3-25BD-4A70-A1BE-75AEDBA4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4250"/>
            <a:ext cx="32194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accent-党团流程流转">
            <a:extLst xmlns:a="http://schemas.openxmlformats.org/drawingml/2006/main">
              <a:ext uri="{FF2B5EF4-FFF2-40B4-BE49-F238E27FC236}">
                <a16:creationId xmlns:a16="http://schemas.microsoft.com/office/drawing/2014/main" id="{9A634F23-5F87-4B76-9180-14FDEF99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4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nel-title-党团流程流转">
            <a:extLst xmlns:a="http://schemas.openxmlformats.org/drawingml/2006/main">
              <a:ext uri="{FF2B5EF4-FFF2-40B4-BE49-F238E27FC236}">
                <a16:creationId xmlns:a16="http://schemas.microsoft.com/office/drawing/2014/main" id="{48BF46D3-A630-407E-B09E-D8306DE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党团流程流转</a:t>
            </a:r>
          </a:p>
        </p:txBody>
      </p:sp>
      <p:sp>
        <p:nvSpPr>
          <p:cNvPr id="33" name="panel-body-党团流程流转">
            <a:extLst xmlns:a="http://schemas.openxmlformats.org/drawingml/2006/main">
              <a:ext uri="{FF2B5EF4-FFF2-40B4-BE49-F238E27FC236}">
                <a16:creationId xmlns:a16="http://schemas.microsoft.com/office/drawing/2014/main" id="{4C8CEE33-F19E-46C4-A1B3-3377AEEC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281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管理员配置节点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学生提交材料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审核后更新个人进度</a:t>
            </a:r>
          </a:p>
        </p:txBody>
      </p:sp>
      <p:sp>
        <p:nvSpPr>
          <p:cNvPr id="34" name="flow-summary">
            <a:extLst xmlns:a="http://schemas.openxmlformats.org/drawingml/2006/main">
              <a:ext uri="{FF2B5EF4-FFF2-40B4-BE49-F238E27FC236}">
                <a16:creationId xmlns:a16="http://schemas.microsoft.com/office/drawing/2014/main" id="{E0D483A7-55DA-4652-8B0E-380973D5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F"/>
                </a:solidFill>
              </a:defRPr>
            </a:pPr>
            <a:r>
              <a:rPr sz="1650" b="1">
                <a:solidFill>
                  <a:srgbClr val="10213F"/>
                </a:solidFill>
              </a:rPr>
              <a:t>这三条链路覆盖认证、权限、数据库读写、前后端联动和状态流转。</a:t>
            </a:r>
          </a:p>
        </p:txBody>
      </p:sp>
    </p:spTree>
    <p:extLst>
      <p:ext uri="{BB962C8B-B14F-4D97-AF65-F5344CB8AC3E}">
        <p14:creationId xmlns:p14="http://schemas.microsoft.com/office/powerpoint/2010/main" val="15799798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9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D5D8F052-F1B0-4519-B3D4-DA8722CD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6F67FD4-CEFD-4DAE-8D8C-073E510A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4D1"/>
                </a:solidFill>
              </a:defRPr>
            </a:pPr>
            <a:r>
              <a:rPr sz="1350" b="1">
                <a:solidFill>
                  <a:srgbClr val="2264D1"/>
                </a:solidFill>
              </a:rPr>
              <a:t>实现亮点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10ADCD-7B58-4331-8134-8092E2AA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F"/>
                </a:solidFill>
              </a:defRPr>
            </a:pPr>
            <a:r>
              <a:rPr sz="3000" b="1">
                <a:solidFill>
                  <a:srgbClr val="10213F"/>
                </a:solidFill>
              </a:rPr>
              <a:t>技术难点与工程价值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ADA87B3-37B7-497E-80AC-BDDD668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B99AB"/>
                </a:solidFill>
              </a:defRPr>
            </a:pPr>
            <a:r>
              <a:rPr sz="1350" b="1">
                <a:solidFill>
                  <a:srgbClr val="8B99AB"/>
                </a:solidFill>
              </a:rPr>
              <a:t>09</a:t>
            </a:r>
          </a:p>
        </p:txBody>
      </p:sp>
      <p:sp>
        <p:nvSpPr>
          <p:cNvPr id="5" name="panel-数据驱动流程">
            <a:extLst xmlns:a="http://schemas.openxmlformats.org/drawingml/2006/main">
              <a:ext uri="{FF2B5EF4-FFF2-40B4-BE49-F238E27FC236}">
                <a16:creationId xmlns:a16="http://schemas.microsoft.com/office/drawing/2014/main" id="{DF3A71AF-3E35-4448-85A4-014DAFD5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ccent-数据驱动流程">
            <a:extLst xmlns:a="http://schemas.openxmlformats.org/drawingml/2006/main">
              <a:ext uri="{FF2B5EF4-FFF2-40B4-BE49-F238E27FC236}">
                <a16:creationId xmlns:a16="http://schemas.microsoft.com/office/drawing/2014/main" id="{79A70998-5365-4B2C-BA52-40F0EB56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-title-数据驱动流程">
            <a:extLst xmlns:a="http://schemas.openxmlformats.org/drawingml/2006/main">
              <a:ext uri="{FF2B5EF4-FFF2-40B4-BE49-F238E27FC236}">
                <a16:creationId xmlns:a16="http://schemas.microsoft.com/office/drawing/2014/main" id="{73F079BE-4609-4B5B-86C4-40BD32E8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数据驱动流程</a:t>
            </a:r>
          </a:p>
        </p:txBody>
      </p:sp>
      <p:sp>
        <p:nvSpPr>
          <p:cNvPr id="8" name="panel-body-数据驱动流程">
            <a:extLst xmlns:a="http://schemas.openxmlformats.org/drawingml/2006/main">
              <a:ext uri="{FF2B5EF4-FFF2-40B4-BE49-F238E27FC236}">
                <a16:creationId xmlns:a16="http://schemas.microsoft.com/office/drawing/2014/main" id="{8B2B9452-DBF7-4394-8CA3-734C7E74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4362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入党 / 入团流程节点由管理员配置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支持节点时间、提醒规则、附件、材料审核</a:t>
            </a:r>
          </a:p>
        </p:txBody>
      </p:sp>
      <p:sp>
        <p:nvSpPr>
          <p:cNvPr id="9" name="panel-多角色权限控制">
            <a:extLst xmlns:a="http://schemas.openxmlformats.org/drawingml/2006/main">
              <a:ext uri="{FF2B5EF4-FFF2-40B4-BE49-F238E27FC236}">
                <a16:creationId xmlns:a16="http://schemas.microsoft.com/office/drawing/2014/main" id="{FC9F685B-A751-4EFF-A3C0-5EF63B84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AF4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accent-多角色权限控制">
            <a:extLst xmlns:a="http://schemas.openxmlformats.org/drawingml/2006/main">
              <a:ext uri="{FF2B5EF4-FFF2-40B4-BE49-F238E27FC236}">
                <a16:creationId xmlns:a16="http://schemas.microsoft.com/office/drawing/2014/main" id="{BCA39980-9EA3-4342-8A9B-F8C177F5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多角色权限控制">
            <a:extLst xmlns:a="http://schemas.openxmlformats.org/drawingml/2006/main">
              <a:ext uri="{FF2B5EF4-FFF2-40B4-BE49-F238E27FC236}">
                <a16:creationId xmlns:a16="http://schemas.microsoft.com/office/drawing/2014/main" id="{6823DC21-F712-49B3-B8F8-1EC513EF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288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多角色权限控制</a:t>
            </a:r>
          </a:p>
        </p:txBody>
      </p:sp>
      <p:sp>
        <p:nvSpPr>
          <p:cNvPr id="12" name="panel-body-多角色权限控制">
            <a:extLst xmlns:a="http://schemas.openxmlformats.org/drawingml/2006/main">
              <a:ext uri="{FF2B5EF4-FFF2-40B4-BE49-F238E27FC236}">
                <a16:creationId xmlns:a16="http://schemas.microsoft.com/office/drawing/2014/main" id="{28ABA410-ECE1-4BAD-8E1D-AF8BFE6F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362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JWT 鉴权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student、student_leader、admin、teacher、leader 分级控制</a:t>
            </a:r>
          </a:p>
        </p:txBody>
      </p:sp>
      <p:sp>
        <p:nvSpPr>
          <p:cNvPr id="13" name="panel-文件与模板处理">
            <a:extLst xmlns:a="http://schemas.openxmlformats.org/drawingml/2006/main">
              <a:ext uri="{FF2B5EF4-FFF2-40B4-BE49-F238E27FC236}">
                <a16:creationId xmlns:a16="http://schemas.microsoft.com/office/drawing/2014/main" id="{0E0299E1-40D8-40C7-9725-95BCD3A9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accent-文件与模板处理">
            <a:extLst xmlns:a="http://schemas.openxmlformats.org/drawingml/2006/main">
              <a:ext uri="{FF2B5EF4-FFF2-40B4-BE49-F238E27FC236}">
                <a16:creationId xmlns:a16="http://schemas.microsoft.com/office/drawing/2014/main" id="{41B4ED3C-A13A-45A7-8E17-8D03A3EC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文件与模板处理">
            <a:extLst xmlns:a="http://schemas.openxmlformats.org/drawingml/2006/main">
              <a:ext uri="{FF2B5EF4-FFF2-40B4-BE49-F238E27FC236}">
                <a16:creationId xmlns:a16="http://schemas.microsoft.com/office/drawing/2014/main" id="{E7A286EF-08C4-4781-8B3B-7CFFB180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文件与模板处理</a:t>
            </a:r>
          </a:p>
        </p:txBody>
      </p:sp>
      <p:sp>
        <p:nvSpPr>
          <p:cNvPr id="16" name="panel-body-文件与模板处理">
            <a:extLst xmlns:a="http://schemas.openxmlformats.org/drawingml/2006/main">
              <a:ext uri="{FF2B5EF4-FFF2-40B4-BE49-F238E27FC236}">
                <a16:creationId xmlns:a16="http://schemas.microsoft.com/office/drawing/2014/main" id="{6E81B435-7AA7-40C8-A612-FA3101D3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4362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DOCX 模板上传、下载、填充和预览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Gotenberg 转 PDF，LibreOffice 可作兜底</a:t>
            </a:r>
          </a:p>
        </p:txBody>
      </p:sp>
      <p:sp>
        <p:nvSpPr>
          <p:cNvPr id="17" name="panel-批量与异步处理">
            <a:extLst xmlns:a="http://schemas.openxmlformats.org/drawingml/2006/main">
              <a:ext uri="{FF2B5EF4-FFF2-40B4-BE49-F238E27FC236}">
                <a16:creationId xmlns:a16="http://schemas.microsoft.com/office/drawing/2014/main" id="{B27845DD-3B08-4506-BCB6-0E2287DE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accent-批量与异步处理">
            <a:extLst xmlns:a="http://schemas.openxmlformats.org/drawingml/2006/main">
              <a:ext uri="{FF2B5EF4-FFF2-40B4-BE49-F238E27FC236}">
                <a16:creationId xmlns:a16="http://schemas.microsoft.com/office/drawing/2014/main" id="{4D6429C1-2757-4434-A70A-6932FCC8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6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批量与异步处理">
            <a:extLst xmlns:a="http://schemas.openxmlformats.org/drawingml/2006/main">
              <a:ext uri="{FF2B5EF4-FFF2-40B4-BE49-F238E27FC236}">
                <a16:creationId xmlns:a16="http://schemas.microsoft.com/office/drawing/2014/main" id="{3DAE76CD-30AA-4E71-93B7-E5BC68F8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批量与异步处理</a:t>
            </a:r>
          </a:p>
        </p:txBody>
      </p:sp>
      <p:sp>
        <p:nvSpPr>
          <p:cNvPr id="20" name="panel-body-批量与异步处理">
            <a:extLst xmlns:a="http://schemas.openxmlformats.org/drawingml/2006/main">
              <a:ext uri="{FF2B5EF4-FFF2-40B4-BE49-F238E27FC236}">
                <a16:creationId xmlns:a16="http://schemas.microsoft.com/office/drawing/2014/main" id="{60FBBF5A-F051-43CA-9A9A-B82C913D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91050"/>
            <a:ext cx="4362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用户、流程、通知、政策、培养方案支持 Excel 导入导出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成绩单解析后与培养方案要求比对</a:t>
            </a:r>
          </a:p>
        </p:txBody>
      </p:sp>
      <p:sp>
        <p:nvSpPr>
          <p:cNvPr id="21" name="hardpoint">
            <a:extLst xmlns:a="http://schemas.openxmlformats.org/drawingml/2006/main">
              <a:ext uri="{FF2B5EF4-FFF2-40B4-BE49-F238E27FC236}">
                <a16:creationId xmlns:a16="http://schemas.microsoft.com/office/drawing/2014/main" id="{62E41F0E-A962-4872-89AA-4E27EC63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626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F"/>
                </a:solidFill>
              </a:defRPr>
            </a:pPr>
            <a:r>
              <a:rPr sz="1650" b="1">
                <a:solidFill>
                  <a:srgbClr val="10213F"/>
                </a:solidFill>
              </a:rPr>
              <a:t>最大难点不是单一算法，而是多个业务模块的状态一致性。</a:t>
            </a:r>
          </a:p>
        </p:txBody>
      </p:sp>
    </p:spTree>
    <p:extLst>
      <p:ext uri="{BB962C8B-B14F-4D97-AF65-F5344CB8AC3E}">
        <p14:creationId xmlns:p14="http://schemas.microsoft.com/office/powerpoint/2010/main" val="1488166994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9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8FA2C494-088F-463A-BC9E-8AE35801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2C0B1FC-9566-4051-A7F4-3F4AD853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4D1"/>
                </a:solidFill>
              </a:defRPr>
            </a:pPr>
            <a:r>
              <a:rPr sz="1350" b="1">
                <a:solidFill>
                  <a:srgbClr val="2264D1"/>
                </a:solidFill>
              </a:rPr>
              <a:t>如何验收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56E026-EA36-4C65-A91D-25F08529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F"/>
                </a:solidFill>
              </a:defRPr>
            </a:pPr>
            <a:r>
              <a:rPr sz="3000" b="1">
                <a:solidFill>
                  <a:srgbClr val="10213F"/>
                </a:solidFill>
              </a:rPr>
              <a:t>测试、部署与交付情况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FF891CB-A101-4C2B-96D4-AE26E770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B99AB"/>
                </a:solidFill>
              </a:defRPr>
            </a:pPr>
            <a:r>
              <a:rPr sz="1350" b="1">
                <a:solidFill>
                  <a:srgbClr val="8B99AB"/>
                </a:solidFill>
              </a:rPr>
              <a:t>10</a:t>
            </a:r>
          </a:p>
        </p:txBody>
      </p:sp>
      <p:sp>
        <p:nvSpPr>
          <p:cNvPr id="5" name="panel-本地启动流程">
            <a:extLst xmlns:a="http://schemas.openxmlformats.org/drawingml/2006/main">
              <a:ext uri="{FF2B5EF4-FFF2-40B4-BE49-F238E27FC236}">
                <a16:creationId xmlns:a16="http://schemas.microsoft.com/office/drawing/2014/main" id="{8A0DCA79-4944-4960-A75D-92D3F68A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ccent-本地启动流程">
            <a:extLst xmlns:a="http://schemas.openxmlformats.org/drawingml/2006/main">
              <a:ext uri="{FF2B5EF4-FFF2-40B4-BE49-F238E27FC236}">
                <a16:creationId xmlns:a16="http://schemas.microsoft.com/office/drawing/2014/main" id="{02358211-5489-47F0-8704-C9CCC5F3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-title-本地启动流程">
            <a:extLst xmlns:a="http://schemas.openxmlformats.org/drawingml/2006/main">
              <a:ext uri="{FF2B5EF4-FFF2-40B4-BE49-F238E27FC236}">
                <a16:creationId xmlns:a16="http://schemas.microsoft.com/office/drawing/2014/main" id="{31DD9294-7B77-41E9-9B90-6892CD6F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本地启动流程</a:t>
            </a:r>
          </a:p>
        </p:txBody>
      </p:sp>
      <p:sp>
        <p:nvSpPr>
          <p:cNvPr id="8" name="panel-body-本地启动流程">
            <a:extLst xmlns:a="http://schemas.openxmlformats.org/drawingml/2006/main">
              <a:ext uri="{FF2B5EF4-FFF2-40B4-BE49-F238E27FC236}">
                <a16:creationId xmlns:a16="http://schemas.microsoft.com/office/drawing/2014/main" id="{040EC1AD-1863-4887-BB12-39562275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552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启动 Kingbase 数据库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配置 backend/.env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执行 node init_db.js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启动 node server.js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浏览器访问 http://localhost:3000/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课程服务器使用 deploy/linux/single-server-start.sh</a:t>
            </a:r>
          </a:p>
        </p:txBody>
      </p:sp>
      <p:sp>
        <p:nvSpPr>
          <p:cNvPr id="9" name="panel-建议验收链路">
            <a:extLst xmlns:a="http://schemas.openxmlformats.org/drawingml/2006/main">
              <a:ext uri="{FF2B5EF4-FFF2-40B4-BE49-F238E27FC236}">
                <a16:creationId xmlns:a16="http://schemas.microsoft.com/office/drawing/2014/main" id="{EC070B00-9AB5-4F42-9E03-6988F6E0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811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AF4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accent-建议验收链路">
            <a:extLst xmlns:a="http://schemas.openxmlformats.org/drawingml/2006/main">
              <a:ext uri="{FF2B5EF4-FFF2-40B4-BE49-F238E27FC236}">
                <a16:creationId xmlns:a16="http://schemas.microsoft.com/office/drawing/2014/main" id="{F0522F90-2962-411C-AF9D-7DC3B257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811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建议验收链路">
            <a:extLst xmlns:a="http://schemas.openxmlformats.org/drawingml/2006/main">
              <a:ext uri="{FF2B5EF4-FFF2-40B4-BE49-F238E27FC236}">
                <a16:creationId xmlns:a16="http://schemas.microsoft.com/office/drawing/2014/main" id="{ED194E38-6D8D-4604-B0FA-53AF2DFC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建议验收链路</a:t>
            </a:r>
          </a:p>
        </p:txBody>
      </p:sp>
      <p:sp>
        <p:nvSpPr>
          <p:cNvPr id="12" name="panel-body-建议验收链路">
            <a:extLst xmlns:a="http://schemas.openxmlformats.org/drawingml/2006/main">
              <a:ext uri="{FF2B5EF4-FFF2-40B4-BE49-F238E27FC236}">
                <a16:creationId xmlns:a16="http://schemas.microsoft.com/office/drawing/2014/main" id="{1B4CD07A-AA9E-4F9B-8142-77199472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5529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登录与个人信息维护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政策查询与知识库维护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学生申请与管理员审批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党团材料提交与审核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成绩分析或模板下载</a:t>
            </a:r>
          </a:p>
        </p:txBody>
      </p:sp>
      <p:sp>
        <p:nvSpPr>
          <p:cNvPr id="13" name="metric-学生账号 / 123456">
            <a:extLst xmlns:a="http://schemas.openxmlformats.org/drawingml/2006/main">
              <a:ext uri="{FF2B5EF4-FFF2-40B4-BE49-F238E27FC236}">
                <a16:creationId xmlns:a16="http://schemas.microsoft.com/office/drawing/2014/main" id="{3B550612-411F-4A72-8868-EB0DE749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3870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metric-value-学生账号 / 123456">
            <a:extLst xmlns:a="http://schemas.openxmlformats.org/drawingml/2006/main">
              <a:ext uri="{FF2B5EF4-FFF2-40B4-BE49-F238E27FC236}">
                <a16:creationId xmlns:a16="http://schemas.microsoft.com/office/drawing/2014/main" id="{0F6B1F8C-C92A-49C3-83BF-50DD3A40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530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264D1"/>
                </a:solidFill>
              </a:defRPr>
            </a:pPr>
            <a:r>
              <a:rPr sz="2100" b="1">
                <a:solidFill>
                  <a:srgbClr val="2264D1"/>
                </a:solidFill>
              </a:rPr>
              <a:t>stu001</a:t>
            </a:r>
          </a:p>
        </p:txBody>
      </p:sp>
      <p:sp>
        <p:nvSpPr>
          <p:cNvPr id="15" name="metric-label-学生账号 / 123456">
            <a:extLst xmlns:a="http://schemas.openxmlformats.org/drawingml/2006/main">
              <a:ext uri="{FF2B5EF4-FFF2-40B4-BE49-F238E27FC236}">
                <a16:creationId xmlns:a16="http://schemas.microsoft.com/office/drawing/2014/main" id="{692DD1EB-EE38-42BF-83ED-8EC72D96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95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82"/>
                </a:solidFill>
              </a:defRPr>
            </a:pPr>
            <a:r>
              <a:rPr sz="1050" b="1">
                <a:solidFill>
                  <a:srgbClr val="5C6B82"/>
                </a:solidFill>
              </a:rPr>
              <a:t>学生账号 / 123456</a:t>
            </a:r>
          </a:p>
        </p:txBody>
      </p:sp>
      <p:sp>
        <p:nvSpPr>
          <p:cNvPr id="16" name="metric-管理员账号 / 123456">
            <a:extLst xmlns:a="http://schemas.openxmlformats.org/drawingml/2006/main">
              <a:ext uri="{FF2B5EF4-FFF2-40B4-BE49-F238E27FC236}">
                <a16:creationId xmlns:a16="http://schemas.microsoft.com/office/drawing/2014/main" id="{15237662-6B89-4BD1-B75D-1C8F8511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7" name="metric-value-管理员账号 / 123456">
            <a:extLst xmlns:a="http://schemas.openxmlformats.org/drawingml/2006/main">
              <a:ext uri="{FF2B5EF4-FFF2-40B4-BE49-F238E27FC236}">
                <a16:creationId xmlns:a16="http://schemas.microsoft.com/office/drawing/2014/main" id="{DFDE6608-4DFA-4F40-9B47-DD5A233E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8F63"/>
                </a:solidFill>
              </a:defRPr>
            </a:pPr>
            <a:r>
              <a:rPr sz="2100" b="1">
                <a:solidFill>
                  <a:srgbClr val="2E8F63"/>
                </a:solidFill>
              </a:rPr>
              <a:t>admin001</a:t>
            </a:r>
          </a:p>
        </p:txBody>
      </p:sp>
      <p:sp>
        <p:nvSpPr>
          <p:cNvPr id="18" name="metric-label-管理员账号 / 123456">
            <a:extLst xmlns:a="http://schemas.openxmlformats.org/drawingml/2006/main">
              <a:ext uri="{FF2B5EF4-FFF2-40B4-BE49-F238E27FC236}">
                <a16:creationId xmlns:a16="http://schemas.microsoft.com/office/drawing/2014/main" id="{E72E45B8-3500-4135-9144-611A9594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9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82"/>
                </a:solidFill>
              </a:defRPr>
            </a:pPr>
            <a:r>
              <a:rPr sz="1050" b="1">
                <a:solidFill>
                  <a:srgbClr val="5C6B82"/>
                </a:solidFill>
              </a:rPr>
              <a:t>管理员账号 / 123456</a:t>
            </a:r>
          </a:p>
        </p:txBody>
      </p:sp>
      <p:sp>
        <p:nvSpPr>
          <p:cNvPr id="19" name="delivery">
            <a:extLst xmlns:a="http://schemas.openxmlformats.org/drawingml/2006/main">
              <a:ext uri="{FF2B5EF4-FFF2-40B4-BE49-F238E27FC236}">
                <a16:creationId xmlns:a16="http://schemas.microsoft.com/office/drawing/2014/main" id="{E9BE2403-AD50-43EB-9986-A496C704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626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F"/>
                </a:solidFill>
              </a:defRPr>
            </a:pPr>
            <a:r>
              <a:rPr sz="1575" b="1">
                <a:solidFill>
                  <a:srgbClr val="10213F"/>
                </a:solidFill>
              </a:rPr>
              <a:t>仓库已包含 README、单机部署指南、使用说明、测试文档模板和交付清单。</a:t>
            </a:r>
          </a:p>
        </p:txBody>
      </p:sp>
    </p:spTree>
    <p:extLst>
      <p:ext uri="{BB962C8B-B14F-4D97-AF65-F5344CB8AC3E}">
        <p14:creationId xmlns:p14="http://schemas.microsoft.com/office/powerpoint/2010/main" val="521664925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9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9CFD63C7-AEC9-4C70-B6E0-17494164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2DE1CDE-2651-4F23-B3F8-90CCD429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4D1"/>
                </a:solidFill>
              </a:defRPr>
            </a:pPr>
            <a:r>
              <a:rPr sz="1350" b="1">
                <a:solidFill>
                  <a:srgbClr val="2264D1"/>
                </a:solidFill>
              </a:rPr>
              <a:t>后续改进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E58021-8C73-4980-8A63-8465ED4E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F"/>
                </a:solidFill>
              </a:defRPr>
            </a:pPr>
            <a:r>
              <a:rPr sz="3000" b="1">
                <a:solidFill>
                  <a:srgbClr val="10213F"/>
                </a:solidFill>
              </a:rPr>
              <a:t>当前边界与生产化方向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2D082CF-E575-4100-9111-7CF53349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B99AB"/>
                </a:solidFill>
              </a:defRPr>
            </a:pPr>
            <a:r>
              <a:rPr sz="1350" b="1">
                <a:solidFill>
                  <a:srgbClr val="8B99AB"/>
                </a:solidFill>
              </a:rPr>
              <a:t>11</a:t>
            </a:r>
          </a:p>
        </p:txBody>
      </p:sp>
      <p:sp>
        <p:nvSpPr>
          <p:cNvPr id="5" name="panel-已实现">
            <a:extLst xmlns:a="http://schemas.openxmlformats.org/drawingml/2006/main">
              <a:ext uri="{FF2B5EF4-FFF2-40B4-BE49-F238E27FC236}">
                <a16:creationId xmlns:a16="http://schemas.microsoft.com/office/drawing/2014/main" id="{DECEF1D0-F123-4E1C-BA93-1754F0AA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EFAF4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ccent-已实现">
            <a:extLst xmlns:a="http://schemas.openxmlformats.org/drawingml/2006/main">
              <a:ext uri="{FF2B5EF4-FFF2-40B4-BE49-F238E27FC236}">
                <a16:creationId xmlns:a16="http://schemas.microsoft.com/office/drawing/2014/main" id="{6DB863E8-408F-40E4-BDD6-1C84BE86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-title-已实现">
            <a:extLst xmlns:a="http://schemas.openxmlformats.org/drawingml/2006/main">
              <a:ext uri="{FF2B5EF4-FFF2-40B4-BE49-F238E27FC236}">
                <a16:creationId xmlns:a16="http://schemas.microsoft.com/office/drawing/2014/main" id="{C4112CD1-8568-4724-9C28-53D4897B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已实现</a:t>
            </a:r>
          </a:p>
        </p:txBody>
      </p:sp>
      <p:sp>
        <p:nvSpPr>
          <p:cNvPr id="8" name="panel-body-已实现">
            <a:extLst xmlns:a="http://schemas.openxmlformats.org/drawingml/2006/main">
              <a:ext uri="{FF2B5EF4-FFF2-40B4-BE49-F238E27FC236}">
                <a16:creationId xmlns:a16="http://schemas.microsoft.com/office/drawing/2014/main" id="{EA6349C9-7A7C-44A9-A0D9-03EC3795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384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学生端与管理员端主要功能闭环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REST API 与 Kingbase 数据落库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证明申请、党团流程、通知与知识库</a:t>
            </a:r>
          </a:p>
        </p:txBody>
      </p:sp>
      <p:sp>
        <p:nvSpPr>
          <p:cNvPr id="9" name="panel-待增强">
            <a:extLst xmlns:a="http://schemas.openxmlformats.org/drawingml/2006/main">
              <a:ext uri="{FF2B5EF4-FFF2-40B4-BE49-F238E27FC236}">
                <a16:creationId xmlns:a16="http://schemas.microsoft.com/office/drawing/2014/main" id="{225A2AD5-F69E-408C-A009-441460D3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accent-待增强">
            <a:extLst xmlns:a="http://schemas.openxmlformats.org/drawingml/2006/main">
              <a:ext uri="{FF2B5EF4-FFF2-40B4-BE49-F238E27FC236}">
                <a16:creationId xmlns:a16="http://schemas.microsoft.com/office/drawing/2014/main" id="{4CF1857F-7D73-431F-B0F1-8D1649DA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待增强">
            <a:extLst xmlns:a="http://schemas.openxmlformats.org/drawingml/2006/main">
              <a:ext uri="{FF2B5EF4-FFF2-40B4-BE49-F238E27FC236}">
                <a16:creationId xmlns:a16="http://schemas.microsoft.com/office/drawing/2014/main" id="{493D1413-D85C-40C9-BAB7-F687C3BE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859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待增强</a:t>
            </a:r>
          </a:p>
        </p:txBody>
      </p:sp>
      <p:sp>
        <p:nvSpPr>
          <p:cNvPr id="12" name="panel-body-待增强">
            <a:extLst xmlns:a="http://schemas.openxmlformats.org/drawingml/2006/main">
              <a:ext uri="{FF2B5EF4-FFF2-40B4-BE49-F238E27FC236}">
                <a16:creationId xmlns:a16="http://schemas.microsoft.com/office/drawing/2014/main" id="{66740227-31FF-4D57-AC96-228748E7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8384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密码哈希存储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统一错误响应与参数校验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PDF / Excel 解析稳定性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自动化测试与接口测试集合</a:t>
            </a:r>
          </a:p>
        </p:txBody>
      </p:sp>
      <p:sp>
        <p:nvSpPr>
          <p:cNvPr id="13" name="panel-可扩展">
            <a:extLst xmlns:a="http://schemas.openxmlformats.org/drawingml/2006/main">
              <a:ext uri="{FF2B5EF4-FFF2-40B4-BE49-F238E27FC236}">
                <a16:creationId xmlns:a16="http://schemas.microsoft.com/office/drawing/2014/main" id="{B3CDD580-234D-4C6D-A586-77CFAA87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accent-可扩展">
            <a:extLst xmlns:a="http://schemas.openxmlformats.org/drawingml/2006/main">
              <a:ext uri="{FF2B5EF4-FFF2-40B4-BE49-F238E27FC236}">
                <a16:creationId xmlns:a16="http://schemas.microsoft.com/office/drawing/2014/main" id="{E07E26F8-5F48-4730-B700-83C79BD7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可扩展">
            <a:extLst xmlns:a="http://schemas.openxmlformats.org/drawingml/2006/main">
              <a:ext uri="{FF2B5EF4-FFF2-40B4-BE49-F238E27FC236}">
                <a16:creationId xmlns:a16="http://schemas.microsoft.com/office/drawing/2014/main" id="{EF127F04-16D1-4C98-AB17-04B95DEE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可扩展</a:t>
            </a:r>
          </a:p>
        </p:txBody>
      </p:sp>
      <p:sp>
        <p:nvSpPr>
          <p:cNvPr id="16" name="panel-body-可扩展">
            <a:extLst xmlns:a="http://schemas.openxmlformats.org/drawingml/2006/main">
              <a:ext uri="{FF2B5EF4-FFF2-40B4-BE49-F238E27FC236}">
                <a16:creationId xmlns:a16="http://schemas.microsoft.com/office/drawing/2014/main" id="{E99591C2-D16F-4517-B820-3AA2FE74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8384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学校统一身份认证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操作日志审计与数据权限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证书编号、文件归档和下载权限</a:t>
            </a:r>
          </a:p>
          <a:p xmlns:a="http://schemas.openxmlformats.org/drawingml/2006/main">
            <a:pPr algn="l">
              <a:defRPr sz="1275" b="0">
                <a:solidFill>
                  <a:srgbClr val="5C6B82"/>
                </a:solidFill>
              </a:defRPr>
            </a:pPr>
            <a:r>
              <a:rPr sz="1275" b="0">
                <a:solidFill>
                  <a:srgbClr val="5C6B82"/>
                </a:solidFill>
              </a:rPr>
              <a:t>• 评奖评优、出国申请、活动报备等事务</a:t>
            </a:r>
          </a:p>
        </p:txBody>
      </p:sp>
      <p:sp>
        <p:nvSpPr>
          <p:cNvPr id="17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9B2330A2-1883-484F-8381-0F497FF3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9245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F"/>
                </a:solidFill>
              </a:defRPr>
            </a:pPr>
            <a:r>
              <a:rPr sz="1500" b="1">
                <a:solidFill>
                  <a:srgbClr val="10213F"/>
                </a:solidFill>
              </a:rPr>
              <a:t>答辩表述建议：当前已完成课程项目要求下的核心业务闭环，并预留生产化改造方向。</a:t>
            </a:r>
          </a:p>
        </p:txBody>
      </p:sp>
    </p:spTree>
    <p:extLst>
      <p:ext uri="{BB962C8B-B14F-4D97-AF65-F5344CB8AC3E}">
        <p14:creationId xmlns:p14="http://schemas.microsoft.com/office/powerpoint/2010/main" val="2010434399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7F9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B32D38A2-ABD1-4791-97B1-9CABB001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64D1"/>
              </a:gs>
              <a:gs pos="55000">
                <a:srgbClr val="1AA6B7"/>
              </a:gs>
              <a:gs pos="100000">
                <a:srgbClr val="2E8F63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CEDFF73-2305-46DD-8880-29B80D66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4D1"/>
                </a:solidFill>
              </a:defRPr>
            </a:pPr>
            <a:r>
              <a:rPr sz="1350" b="1">
                <a:solidFill>
                  <a:srgbClr val="2264D1"/>
                </a:solidFill>
              </a:rPr>
              <a:t>备用页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03AB82-A0CE-454D-9500-EE8DE621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F"/>
                </a:solidFill>
              </a:defRPr>
            </a:pPr>
            <a:r>
              <a:rPr sz="3000" b="1">
                <a:solidFill>
                  <a:srgbClr val="10213F"/>
                </a:solidFill>
              </a:rPr>
              <a:t>答辩提问准备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EA52CAD-38E5-491D-8892-91E0D6A5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B99AB"/>
                </a:solidFill>
              </a:defRPr>
            </a:pPr>
            <a:r>
              <a:rPr sz="1350" b="1">
                <a:solidFill>
                  <a:srgbClr val="8B99AB"/>
                </a:solidFill>
              </a:rPr>
              <a:t>12</a:t>
            </a:r>
          </a:p>
        </p:txBody>
      </p:sp>
      <p:sp>
        <p:nvSpPr>
          <p:cNvPr id="5" name="qa-0">
            <a:extLst xmlns:a="http://schemas.openxmlformats.org/drawingml/2006/main">
              <a:ext uri="{FF2B5EF4-FFF2-40B4-BE49-F238E27FC236}">
                <a16:creationId xmlns:a16="http://schemas.microsoft.com/office/drawing/2014/main" id="{38C82DFC-A7F4-40F3-8A25-E2E1D707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0958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6" name="q-0">
            <a:extLst xmlns:a="http://schemas.openxmlformats.org/drawingml/2006/main">
              <a:ext uri="{FF2B5EF4-FFF2-40B4-BE49-F238E27FC236}">
                <a16:creationId xmlns:a16="http://schemas.microsoft.com/office/drawing/2014/main" id="{808B9D5F-8641-4A08-BCE5-A8CBA547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Q1 为什么没有直接接入学校现有系统？</a:t>
            </a:r>
          </a:p>
        </p:txBody>
      </p:sp>
      <p:sp>
        <p:nvSpPr>
          <p:cNvPr id="7" name="a-0">
            <a:extLst xmlns:a="http://schemas.openxmlformats.org/drawingml/2006/main">
              <a:ext uri="{FF2B5EF4-FFF2-40B4-BE49-F238E27FC236}">
                <a16:creationId xmlns:a16="http://schemas.microsoft.com/office/drawing/2014/main" id="{87487F92-2A2F-41C6-ADF8-85541FF3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</a:defRPr>
            </a:pPr>
            <a:r>
              <a:rPr sz="1050" b="0">
                <a:solidFill>
                  <a:srgbClr val="5C6B82"/>
                </a:solidFill>
              </a:rPr>
              <a:t>当前无法直接对接校级接口，采用导入导出过渡，架构保留 REST API 和模块边界。</a:t>
            </a:r>
          </a:p>
        </p:txBody>
      </p:sp>
      <p:sp>
        <p:nvSpPr>
          <p:cNvPr id="8" name="qa-1">
            <a:extLst xmlns:a="http://schemas.openxmlformats.org/drawingml/2006/main">
              <a:ext uri="{FF2B5EF4-FFF2-40B4-BE49-F238E27FC236}">
                <a16:creationId xmlns:a16="http://schemas.microsoft.com/office/drawing/2014/main" id="{E8CF0AA6-FC5B-43A6-BD22-190226CE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04950"/>
            <a:ext cx="50958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9" name="q-1">
            <a:extLst xmlns:a="http://schemas.openxmlformats.org/drawingml/2006/main">
              <a:ext uri="{FF2B5EF4-FFF2-40B4-BE49-F238E27FC236}">
                <a16:creationId xmlns:a16="http://schemas.microsoft.com/office/drawing/2014/main" id="{2F32DDAC-47AF-4B51-9E57-177CFD9A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38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Q2 智能咨询是不是用了大模型？</a:t>
            </a:r>
          </a:p>
        </p:txBody>
      </p:sp>
      <p:sp>
        <p:nvSpPr>
          <p:cNvPr id="10" name="a-1">
            <a:extLst xmlns:a="http://schemas.openxmlformats.org/drawingml/2006/main">
              <a:ext uri="{FF2B5EF4-FFF2-40B4-BE49-F238E27FC236}">
                <a16:creationId xmlns:a16="http://schemas.microsoft.com/office/drawing/2014/main" id="{8ACDA0EC-7FAC-4577-9E16-9FB0CEBE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05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</a:defRPr>
            </a:pPr>
            <a:r>
              <a:rPr sz="1050" b="0">
                <a:solidFill>
                  <a:srgbClr val="5C6B82"/>
                </a:solidFill>
              </a:rPr>
              <a:t>当前以政策知识库和标准问答检索为主，降低政策答复不确定性。</a:t>
            </a:r>
          </a:p>
        </p:txBody>
      </p:sp>
      <p:sp>
        <p:nvSpPr>
          <p:cNvPr id="11" name="qa-2">
            <a:extLst xmlns:a="http://schemas.openxmlformats.org/drawingml/2006/main">
              <a:ext uri="{FF2B5EF4-FFF2-40B4-BE49-F238E27FC236}">
                <a16:creationId xmlns:a16="http://schemas.microsoft.com/office/drawing/2014/main" id="{BFC2C53E-EA84-416E-AA19-4B8A470E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50958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q-2">
            <a:extLst xmlns:a="http://schemas.openxmlformats.org/drawingml/2006/main">
              <a:ext uri="{FF2B5EF4-FFF2-40B4-BE49-F238E27FC236}">
                <a16:creationId xmlns:a16="http://schemas.microsoft.com/office/drawing/2014/main" id="{883FB0CB-A498-4063-9CE2-CEF70DD2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Q3 权限是怎么控制的？</a:t>
            </a:r>
          </a:p>
        </p:txBody>
      </p:sp>
      <p:sp>
        <p:nvSpPr>
          <p:cNvPr id="13" name="a-2">
            <a:extLst xmlns:a="http://schemas.openxmlformats.org/drawingml/2006/main">
              <a:ext uri="{FF2B5EF4-FFF2-40B4-BE49-F238E27FC236}">
                <a16:creationId xmlns:a16="http://schemas.microsoft.com/office/drawing/2014/main" id="{C2F34AE5-AEBC-48F6-8194-48D48332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</a:defRPr>
            </a:pPr>
            <a:r>
              <a:rPr sz="1050" b="0">
                <a:solidFill>
                  <a:srgbClr val="5C6B82"/>
                </a:solidFill>
              </a:rPr>
              <a:t>JWT + 后端中间件验证 Token + 角色数组控制接口访问。</a:t>
            </a:r>
          </a:p>
        </p:txBody>
      </p:sp>
      <p:sp>
        <p:nvSpPr>
          <p:cNvPr id="14" name="qa-3">
            <a:extLst xmlns:a="http://schemas.openxmlformats.org/drawingml/2006/main">
              <a:ext uri="{FF2B5EF4-FFF2-40B4-BE49-F238E27FC236}">
                <a16:creationId xmlns:a16="http://schemas.microsoft.com/office/drawing/2014/main" id="{58281166-32E2-4193-9FA2-4188EC0C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28900"/>
            <a:ext cx="50958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5" name="q-3">
            <a:extLst xmlns:a="http://schemas.openxmlformats.org/drawingml/2006/main">
              <a:ext uri="{FF2B5EF4-FFF2-40B4-BE49-F238E27FC236}">
                <a16:creationId xmlns:a16="http://schemas.microsoft.com/office/drawing/2014/main" id="{BF50F993-383B-4F1A-B615-548CE24A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62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Q4 党团流程为什么可配置？</a:t>
            </a:r>
          </a:p>
        </p:txBody>
      </p:sp>
      <p:sp>
        <p:nvSpPr>
          <p:cNvPr id="16" name="a-3">
            <a:extLst xmlns:a="http://schemas.openxmlformats.org/drawingml/2006/main">
              <a:ext uri="{FF2B5EF4-FFF2-40B4-BE49-F238E27FC236}">
                <a16:creationId xmlns:a16="http://schemas.microsoft.com/office/drawing/2014/main" id="{EEC87A30-B200-4DD7-BECF-434F1DA6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</a:defRPr>
            </a:pPr>
            <a:r>
              <a:rPr sz="1050" b="0">
                <a:solidFill>
                  <a:srgbClr val="5C6B82"/>
                </a:solidFill>
              </a:rPr>
              <a:t>流程节点保存在 party_process_node 表中，由管理员维护名称、顺序、时间和附件。</a:t>
            </a:r>
          </a:p>
        </p:txBody>
      </p:sp>
      <p:sp>
        <p:nvSpPr>
          <p:cNvPr id="17" name="qa-4">
            <a:extLst xmlns:a="http://schemas.openxmlformats.org/drawingml/2006/main">
              <a:ext uri="{FF2B5EF4-FFF2-40B4-BE49-F238E27FC236}">
                <a16:creationId xmlns:a16="http://schemas.microsoft.com/office/drawing/2014/main" id="{24A03C38-E6B6-4CAD-95AC-59AF705D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958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q-4">
            <a:extLst xmlns:a="http://schemas.openxmlformats.org/drawingml/2006/main">
              <a:ext uri="{FF2B5EF4-FFF2-40B4-BE49-F238E27FC236}">
                <a16:creationId xmlns:a16="http://schemas.microsoft.com/office/drawing/2014/main" id="{AAED2969-0426-4541-9FE2-6C70BE9E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Q5 证明申请如何实现？</a:t>
            </a:r>
          </a:p>
        </p:txBody>
      </p:sp>
      <p:sp>
        <p:nvSpPr>
          <p:cNvPr id="19" name="a-4">
            <a:extLst xmlns:a="http://schemas.openxmlformats.org/drawingml/2006/main">
              <a:ext uri="{FF2B5EF4-FFF2-40B4-BE49-F238E27FC236}">
                <a16:creationId xmlns:a16="http://schemas.microsoft.com/office/drawing/2014/main" id="{C7276CEF-EDB3-4C3A-8BDF-938E44F1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</a:defRPr>
            </a:pPr>
            <a:r>
              <a:rPr sz="1050" b="0">
                <a:solidFill>
                  <a:srgbClr val="5C6B82"/>
                </a:solidFill>
              </a:rPr>
              <a:t>管理员上传 DOCX 模板，学生填写用途与字段，提交 application 后由管理员审核。</a:t>
            </a:r>
          </a:p>
        </p:txBody>
      </p:sp>
      <p:sp>
        <p:nvSpPr>
          <p:cNvPr id="20" name="qa-5">
            <a:extLst xmlns:a="http://schemas.openxmlformats.org/drawingml/2006/main">
              <a:ext uri="{FF2B5EF4-FFF2-40B4-BE49-F238E27FC236}">
                <a16:creationId xmlns:a16="http://schemas.microsoft.com/office/drawing/2014/main" id="{F535A89B-6AB0-4750-9717-2F824C15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52850"/>
            <a:ext cx="50958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1" name="q-5">
            <a:extLst xmlns:a="http://schemas.openxmlformats.org/drawingml/2006/main">
              <a:ext uri="{FF2B5EF4-FFF2-40B4-BE49-F238E27FC236}">
                <a16:creationId xmlns:a16="http://schemas.microsoft.com/office/drawing/2014/main" id="{7061146D-603A-4F26-A294-C5994758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86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Q6 成绩分析核心逻辑是什么？</a:t>
            </a:r>
          </a:p>
        </p:txBody>
      </p:sp>
      <p:sp>
        <p:nvSpPr>
          <p:cNvPr id="22" name="a-5">
            <a:extLst xmlns:a="http://schemas.openxmlformats.org/drawingml/2006/main">
              <a:ext uri="{FF2B5EF4-FFF2-40B4-BE49-F238E27FC236}">
                <a16:creationId xmlns:a16="http://schemas.microsoft.com/office/drawing/2014/main" id="{847682E9-6EC1-45F1-977B-143134C3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529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</a:defRPr>
            </a:pPr>
            <a:r>
              <a:rPr sz="1050" b="0">
                <a:solidFill>
                  <a:srgbClr val="5C6B82"/>
                </a:solidFill>
              </a:rPr>
              <a:t>上传成绩单创建 transcript_task，解析课程和学分，与培养方案要求比对。</a:t>
            </a:r>
          </a:p>
        </p:txBody>
      </p:sp>
      <p:sp>
        <p:nvSpPr>
          <p:cNvPr id="23" name="qa-6">
            <a:extLst xmlns:a="http://schemas.openxmlformats.org/drawingml/2006/main">
              <a:ext uri="{FF2B5EF4-FFF2-40B4-BE49-F238E27FC236}">
                <a16:creationId xmlns:a16="http://schemas.microsoft.com/office/drawing/2014/main" id="{35601717-6B27-420E-8FC2-42E26A20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50958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4" name="q-6">
            <a:extLst xmlns:a="http://schemas.openxmlformats.org/drawingml/2006/main">
              <a:ext uri="{FF2B5EF4-FFF2-40B4-BE49-F238E27FC236}">
                <a16:creationId xmlns:a16="http://schemas.microsoft.com/office/drawing/2014/main" id="{4E999E1A-CDBF-432D-9FDA-8650D6F3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Q7 当前系统还有哪些不足？</a:t>
            </a:r>
          </a:p>
        </p:txBody>
      </p:sp>
      <p:sp>
        <p:nvSpPr>
          <p:cNvPr id="25" name="a-6">
            <a:extLst xmlns:a="http://schemas.openxmlformats.org/drawingml/2006/main">
              <a:ext uri="{FF2B5EF4-FFF2-40B4-BE49-F238E27FC236}">
                <a16:creationId xmlns:a16="http://schemas.microsoft.com/office/drawing/2014/main" id="{1B2373F9-E4B4-437D-9770-F7E1F458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</a:defRPr>
            </a:pPr>
            <a:r>
              <a:rPr sz="1050" b="0">
                <a:solidFill>
                  <a:srgbClr val="5C6B82"/>
                </a:solidFill>
              </a:rPr>
              <a:t>需补强密码哈希、统一错误结构、自动化测试、操作审计、复杂文件解析和 HTTPS。</a:t>
            </a:r>
          </a:p>
        </p:txBody>
      </p:sp>
      <p:sp>
        <p:nvSpPr>
          <p:cNvPr id="26" name="qa-7">
            <a:extLst xmlns:a="http://schemas.openxmlformats.org/drawingml/2006/main">
              <a:ext uri="{FF2B5EF4-FFF2-40B4-BE49-F238E27FC236}">
                <a16:creationId xmlns:a16="http://schemas.microsoft.com/office/drawing/2014/main" id="{A6B8CF55-2022-4DE2-B35A-19588339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76800"/>
            <a:ext cx="50958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7" name="q-7">
            <a:extLst xmlns:a="http://schemas.openxmlformats.org/drawingml/2006/main">
              <a:ext uri="{FF2B5EF4-FFF2-40B4-BE49-F238E27FC236}">
                <a16:creationId xmlns:a16="http://schemas.microsoft.com/office/drawing/2014/main" id="{CD3F1A65-DB64-4DC7-B978-9342B71C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10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汇报节奏建议</a:t>
            </a:r>
          </a:p>
        </p:txBody>
      </p:sp>
      <p:sp>
        <p:nvSpPr>
          <p:cNvPr id="28" name="a-7">
            <a:extLst xmlns:a="http://schemas.openxmlformats.org/drawingml/2006/main">
              <a:ext uri="{FF2B5EF4-FFF2-40B4-BE49-F238E27FC236}">
                <a16:creationId xmlns:a16="http://schemas.microsoft.com/office/drawing/2014/main" id="{FF3E1919-5E20-4338-9EB8-A43824E3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2768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</a:defRPr>
            </a:pPr>
            <a:r>
              <a:rPr sz="1050" b="0">
                <a:solidFill>
                  <a:srgbClr val="5C6B82"/>
                </a:solidFill>
              </a:rPr>
              <a:t>压缩数据库细节，把更多时间留给第 8 页业务闭环演示。</a:t>
            </a:r>
          </a:p>
        </p:txBody>
      </p:sp>
    </p:spTree>
    <p:extLst>
      <p:ext uri="{BB962C8B-B14F-4D97-AF65-F5344CB8AC3E}">
        <p14:creationId xmlns:p14="http://schemas.microsoft.com/office/powerpoint/2010/main" val="1454802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2026-06-28T10:01:26.0180000Z</dcterms:created>
  <dcterms:modified xsi:type="dcterms:W3CDTF">2026-06-28T10:01:26.0180000Z</dcterms:modified>
</coreProperties>
</file>